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2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3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4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概述" id="{721c7e07-91be-d75e-6fc8-b8b0f3575e39}">
          <p14:sldIdLst>
            <p14:sldId id="258"/>
            <p14:sldId id="259"/>
            <p14:sldId id="260"/>
            <p14:sldId id="261"/>
          </p14:sldIdLst>
        </p14:section>
        <p14:section name="方法" id="{93362d30-a565-a533-b935-05b1618f57c1}">
          <p14:sldIdLst>
            <p14:sldId id="262"/>
            <p14:sldId id="263"/>
            <p14:sldId id="264"/>
            <p14:sldId id="265"/>
            <p14:sldId id="266"/>
          </p14:sldIdLst>
        </p14:section>
        <p14:section name="實驗設置" id="{3c3e19b7-d32b-ee37-e432-6ab8598db874}">
          <p14:sldIdLst>
            <p14:sldId id="267"/>
            <p14:sldId id="268"/>
            <p14:sldId id="269"/>
            <p14:sldId id="270"/>
            <p14:sldId id="271"/>
          </p14:sldIdLst>
        </p14:section>
        <p14:section name="實驗結果" id="{b978da89-2417-0b9e-dcda-7f212afd5cb2}">
          <p14:sldIdLst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結論" id="{e050ff88-e2d4-2b50-fed4-f7ab970a8c2e}">
          <p14:sldIdLst>
            <p14:sldId id="280"/>
          </p14:sldIdLst>
        </p14:section>
        <p14:section name="附錄" id="{6cda1ea9-92d9-c092-90a5-9db3c3cfd9ee}">
          <p14:sldIdLst>
            <p14:sldId id="281"/>
            <p14:sldId id="282"/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0.5 + 0.5·0.9ⁿ（採用）</c:v>
                </c:pt>
              </c:strCache>
            </c:strRef>
          </c:tx>
          <c:spPr>
            <a:solidFill>
              <a:srgbClr val="0F766E"/>
            </a:solidFill>
            <a:ln w="28575" cap="flat">
              <a:solidFill>
                <a:srgbClr val="0F766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766E"/>
              </a:solidFill>
              <a:ln w="9525" cap="flat">
                <a:solidFill>
                  <a:srgbClr val="0F766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>5</c:v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>10</c:v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>15</c:v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20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>25</c:v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>30</c:v>
                  </c:pt>
                </c:lvl>
              </c:multiLvlStrCache>
            </c:multiLvl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1</c:v>
                </c:pt>
                <c:pt idx="1">
                  <c:v>0.95</c:v>
                </c:pt>
                <c:pt idx="2">
                  <c:v>0.905</c:v>
                </c:pt>
                <c:pt idx="3">
                  <c:v>0.8645</c:v>
                </c:pt>
                <c:pt idx="4">
                  <c:v>0.8281</c:v>
                </c:pt>
                <c:pt idx="5">
                  <c:v>0.7952</c:v>
                </c:pt>
                <c:pt idx="6">
                  <c:v>0.7657</c:v>
                </c:pt>
                <c:pt idx="7">
                  <c:v>0.7391</c:v>
                </c:pt>
                <c:pt idx="8">
                  <c:v>0.7152</c:v>
                </c:pt>
                <c:pt idx="9">
                  <c:v>0.6937</c:v>
                </c:pt>
                <c:pt idx="10">
                  <c:v>0.6743</c:v>
                </c:pt>
                <c:pt idx="11">
                  <c:v>0.6569</c:v>
                </c:pt>
                <c:pt idx="12">
                  <c:v>0.6412</c:v>
                </c:pt>
                <c:pt idx="13">
                  <c:v>0.6271</c:v>
                </c:pt>
                <c:pt idx="14">
                  <c:v>0.6144</c:v>
                </c:pt>
                <c:pt idx="15">
                  <c:v>0.6029</c:v>
                </c:pt>
                <c:pt idx="16">
                  <c:v>0.5927</c:v>
                </c:pt>
                <c:pt idx="17">
                  <c:v>0.5834</c:v>
                </c:pt>
                <c:pt idx="18">
                  <c:v>0.575</c:v>
                </c:pt>
                <c:pt idx="19">
                  <c:v>0.5675</c:v>
                </c:pt>
                <c:pt idx="20">
                  <c:v>0.5608</c:v>
                </c:pt>
                <c:pt idx="21">
                  <c:v>0.5547</c:v>
                </c:pt>
                <c:pt idx="22">
                  <c:v>0.5492</c:v>
                </c:pt>
                <c:pt idx="23">
                  <c:v>0.5443</c:v>
                </c:pt>
                <c:pt idx="24">
                  <c:v>0.5399</c:v>
                </c:pt>
                <c:pt idx="25">
                  <c:v>0.5359</c:v>
                </c:pt>
                <c:pt idx="26">
                  <c:v>0.5323</c:v>
                </c:pt>
                <c:pt idx="27">
                  <c:v>0.5291</c:v>
                </c:pt>
                <c:pt idx="28">
                  <c:v>0.5262</c:v>
                </c:pt>
                <c:pt idx="29">
                  <c:v>0.5236</c:v>
                </c:pt>
                <c:pt idx="30">
                  <c:v>0.5212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0.9ⁿ</c:v>
                </c:pt>
              </c:strCache>
            </c:strRef>
          </c:tx>
          <c:spPr>
            <a:solidFill>
              <a:srgbClr val="9CA3AF"/>
            </a:solidFill>
            <a:ln w="28575" cap="flat">
              <a:solidFill>
                <a:srgbClr val="9CA3A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CA3AF"/>
              </a:solidFill>
              <a:ln w="9525" cap="flat">
                <a:solidFill>
                  <a:srgbClr val="9CA3A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>5</c:v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>10</c:v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>15</c:v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20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>25</c:v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>30</c:v>
                  </c:pt>
                </c:lvl>
              </c:multiLvlStrCache>
            </c:multiLvlStrRef>
          </c:cat>
          <c:val>
            <c:numRef>
              <c:f>Sheet1!$C$2:$C$32</c:f>
              <c:numCache>
                <c:formatCode>General</c:formatCode>
                <c:ptCount val="31"/>
                <c:pt idx="0">
                  <c:v>1</c:v>
                </c:pt>
                <c:pt idx="1">
                  <c:v>0.9</c:v>
                </c:pt>
                <c:pt idx="2">
                  <c:v>0.81</c:v>
                </c:pt>
                <c:pt idx="3">
                  <c:v>0.729</c:v>
                </c:pt>
                <c:pt idx="4">
                  <c:v>0.6561</c:v>
                </c:pt>
                <c:pt idx="5">
                  <c:v>0.5905</c:v>
                </c:pt>
                <c:pt idx="6">
                  <c:v>0.5314</c:v>
                </c:pt>
                <c:pt idx="7">
                  <c:v>0.4783</c:v>
                </c:pt>
                <c:pt idx="8">
                  <c:v>0.4305</c:v>
                </c:pt>
                <c:pt idx="9">
                  <c:v>0.3874</c:v>
                </c:pt>
                <c:pt idx="10">
                  <c:v>0.3487</c:v>
                </c:pt>
                <c:pt idx="11">
                  <c:v>0.3138</c:v>
                </c:pt>
                <c:pt idx="12">
                  <c:v>0.2824</c:v>
                </c:pt>
                <c:pt idx="13">
                  <c:v>0.2542</c:v>
                </c:pt>
                <c:pt idx="14">
                  <c:v>0.2288</c:v>
                </c:pt>
                <c:pt idx="15">
                  <c:v>0.2059</c:v>
                </c:pt>
                <c:pt idx="16">
                  <c:v>0.1853</c:v>
                </c:pt>
                <c:pt idx="17">
                  <c:v>0.1668</c:v>
                </c:pt>
                <c:pt idx="18">
                  <c:v>0.1501</c:v>
                </c:pt>
                <c:pt idx="19">
                  <c:v>0.1351</c:v>
                </c:pt>
                <c:pt idx="20">
                  <c:v>0.1216</c:v>
                </c:pt>
                <c:pt idx="21">
                  <c:v>0.1094</c:v>
                </c:pt>
                <c:pt idx="22">
                  <c:v>0.0985</c:v>
                </c:pt>
                <c:pt idx="23">
                  <c:v>0.0886</c:v>
                </c:pt>
                <c:pt idx="24">
                  <c:v>0.0798</c:v>
                </c:pt>
                <c:pt idx="25">
                  <c:v>0.0718</c:v>
                </c:pt>
                <c:pt idx="26">
                  <c:v>0.0646</c:v>
                </c:pt>
                <c:pt idx="27">
                  <c:v>0.0581</c:v>
                </c:pt>
                <c:pt idx="28">
                  <c:v>0.0523</c:v>
                </c:pt>
                <c:pt idx="29">
                  <c:v>0.0471</c:v>
                </c:pt>
                <c:pt idx="30">
                  <c:v>0.0424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6B7280"/>
                    </a:solidFill>
                    <a:latin typeface="Arial"/>
                  </a:rPr>
                  <a:t>步數 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1D5DB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6B728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B728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6B7280"/>
                </a:solidFill>
                <a:latin typeface="+mn-lt"/>
              </a:rPr>
              <a:t>PUCT16 reward（100 局測試集）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原始 Laya</c:v>
                </c:pt>
              </c:strCache>
            </c:strRef>
          </c:tx>
          <c:spPr>
            <a:solidFill>
              <a:srgbClr val="E5E7E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B556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L2-goal</c:v>
                  </c:pt>
                  <c:pt idx="1">
                    <c:v>L3-goal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0.128</c:v>
                </c:pt>
                <c:pt idx="1">
                  <c:v>0.052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Warm start</c:v>
                </c:pt>
              </c:strCache>
            </c:strRef>
          </c:tx>
          <c:spPr>
            <a:solidFill>
              <a:srgbClr val="D1D5D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B556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L2-goal</c:v>
                  </c:pt>
                  <c:pt idx="1">
                    <c:v>L3-goal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0.601</c:v>
                </c:pt>
                <c:pt idx="1">
                  <c:v>0.396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Teacher-only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B556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L2-goal</c:v>
                  </c:pt>
                  <c:pt idx="1">
                    <c:v>L3-goal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0.613</c:v>
                </c:pt>
                <c:pt idx="1">
                  <c:v>0.413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Self-play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B556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L2-goal</c:v>
                  </c:pt>
                  <c:pt idx="1">
                    <c:v>L3-goal</c:v>
                  </c:pt>
                </c:lvl>
              </c:multiLvlStrCache>
            </c:multiLvl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0.736</c:v>
                </c:pt>
                <c:pt idx="1">
                  <c:v>0.64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4B556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1D5DB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6B728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B728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6B7280"/>
                </a:solidFill>
                <a:latin typeface="+mn-lt"/>
              </a:rPr>
              <a:t>搜尋增益：PUCT16 − Greedy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Teacher-only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Lbls>
            <c:numFmt formatCode="+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B556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L2-goal</c:v>
                  </c:pt>
                  <c:pt idx="1">
                    <c:v>L3-goal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0.034</c:v>
                </c:pt>
                <c:pt idx="1">
                  <c:v>0.042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Self-play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+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B556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L2-goal</c:v>
                  </c:pt>
                  <c:pt idx="1">
                    <c:v>L3-goal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0.146</c:v>
                </c:pt>
                <c:pt idx="1">
                  <c:v>0.212</c:v>
                </c:pt>
              </c:numCache>
            </c:numRef>
          </c:val>
        </c:ser>
        <c:dLbls>
          <c:numFmt formatCode="+0.00" sourceLinked="0"/>
          <c:txPr>
            <a:bodyPr/>
            <a:lstStyle/>
            <a:p>
              <a:pPr>
                <a:defRPr b="0" i="0" strike="noStrike" sz="1100" u="none">
                  <a:solidFill>
                    <a:srgbClr val="4B556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1D5DB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6B728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Warm start 後距最佳（約）</c:v>
                </c:pt>
              </c:strCache>
            </c:strRef>
          </c:tx>
          <c:spPr>
            <a:solidFill>
              <a:srgbClr val="D1D5D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B556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L1</c:v>
                  </c:pt>
                  <c:pt idx="1">
                    <c:v>L2</c:v>
                  </c:pt>
                  <c:pt idx="2">
                    <c:v>C1</c:v>
                  </c:pt>
                  <c:pt idx="3">
                    <c:v>L2-goal</c:v>
                  </c:pt>
                  <c:pt idx="4">
                    <c:v>L3-goal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0.005</c:v>
                </c:pt>
                <c:pt idx="1">
                  <c:v>0.02</c:v>
                </c:pt>
                <c:pt idx="2">
                  <c:v>0</c:v>
                </c:pt>
                <c:pt idx="3">
                  <c:v>0.14</c:v>
                </c:pt>
                <c:pt idx="4">
                  <c:v>0.3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Self-play − Teacher-only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B556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L1</c:v>
                  </c:pt>
                  <c:pt idx="1">
                    <c:v>L2</c:v>
                  </c:pt>
                  <c:pt idx="2">
                    <c:v>C1</c:v>
                  </c:pt>
                  <c:pt idx="3">
                    <c:v>L2-goal</c:v>
                  </c:pt>
                  <c:pt idx="4">
                    <c:v>L3-goal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-0.009</c:v>
                </c:pt>
                <c:pt idx="1">
                  <c:v>0.004</c:v>
                </c:pt>
                <c:pt idx="2">
                  <c:v>0</c:v>
                </c:pt>
                <c:pt idx="3">
                  <c:v>0.123</c:v>
                </c:pt>
                <c:pt idx="4">
                  <c:v>0.227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4B556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1D5DB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5"/>
          <c:min val="-0.0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6B728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2103120"/>
            <a:ext cx="10820095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3063240"/>
            <a:ext cx="1082009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2103120"/>
            <a:ext cx="108200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Laya + MCTS</a:t>
            </a:r>
            <a:endParaRPr lang="en-US" sz="4800" dirty="0"/>
          </a:p>
        </p:txBody>
      </p:sp>
      <p:sp>
        <p:nvSpPr>
          <p:cNvPr id="3" name="subtitle"/>
          <p:cNvSpPr txBox="1"/>
          <p:nvPr/>
        </p:nvSpPr>
        <p:spPr>
          <a:xfrm>
            <a:off x="685800" y="324612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以 AlphaZero 式自我對弈強化文字決策模型</a:t>
            </a:r>
            <a:endParaRPr lang="en-US" sz="2400" dirty="0"/>
          </a:p>
        </p:txBody>
      </p:sp>
      <p:sp>
        <p:nvSpPr>
          <p:cNvPr id="4" name="meta"/>
          <p:cNvSpPr txBox="1"/>
          <p:nvPr/>
        </p:nvSpPr>
        <p:spPr>
          <a:xfrm>
            <a:off x="685800" y="56692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架構與實驗結果　｜　2026.10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目錄</a:t>
            </a:r>
            <a:endParaRPr lang="en-US" sz="3200" dirty="0"/>
          </a:p>
        </p:txBody>
      </p:sp>
      <p:sp>
        <p:nvSpPr>
          <p:cNvPr id="3" name="agenda num 01"/>
          <p:cNvSpPr txBox="1"/>
          <p:nvPr/>
        </p:nvSpPr>
        <p:spPr>
          <a:xfrm>
            <a:off x="685800" y="17830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01</a:t>
            </a:r>
            <a:endParaRPr lang="en-US" sz="2200" dirty="0"/>
          </a:p>
        </p:txBody>
      </p:sp>
      <p:sp>
        <p:nvSpPr>
          <p:cNvPr id="4" name="agenda title 01"/>
          <p:cNvSpPr txBox="1"/>
          <p:nvPr/>
        </p:nvSpPr>
        <p:spPr>
          <a:xfrm>
            <a:off x="1508760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概述</a:t>
            </a:r>
            <a:endParaRPr lang="en-US" sz="2200" dirty="0"/>
          </a:p>
        </p:txBody>
      </p:sp>
      <p:sp>
        <p:nvSpPr>
          <p:cNvPr id="5" name="agenda desc 01"/>
          <p:cNvSpPr txBox="1"/>
          <p:nvPr/>
        </p:nvSpPr>
        <p:spPr>
          <a:xfrm>
            <a:off x="3886200" y="1837944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AlphaZero 架構與 Laya</a:t>
            </a:r>
            <a:endParaRPr lang="en-US" sz="1600" dirty="0"/>
          </a:p>
        </p:txBody>
      </p:sp>
      <p:sp>
        <p:nvSpPr>
          <p:cNvPr id="6" name="agenda num 02"/>
          <p:cNvSpPr txBox="1"/>
          <p:nvPr/>
        </p:nvSpPr>
        <p:spPr>
          <a:xfrm>
            <a:off x="685800" y="24688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02</a:t>
            </a:r>
            <a:endParaRPr lang="en-US" sz="2200" dirty="0"/>
          </a:p>
        </p:txBody>
      </p:sp>
      <p:sp>
        <p:nvSpPr>
          <p:cNvPr id="7" name="agenda title 02"/>
          <p:cNvSpPr txBox="1"/>
          <p:nvPr/>
        </p:nvSpPr>
        <p:spPr>
          <a:xfrm>
            <a:off x="1508760" y="2468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方法</a:t>
            </a:r>
            <a:endParaRPr lang="en-US" sz="2200" dirty="0"/>
          </a:p>
        </p:txBody>
      </p:sp>
      <p:sp>
        <p:nvSpPr>
          <p:cNvPr id="8" name="agenda desc 02"/>
          <p:cNvSpPr txBox="1"/>
          <p:nvPr/>
        </p:nvSpPr>
        <p:spPr>
          <a:xfrm>
            <a:off x="3886200" y="2523744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訓練迴圈、reward、self-play、gate</a:t>
            </a:r>
            <a:endParaRPr lang="en-US" sz="1600" dirty="0"/>
          </a:p>
        </p:txBody>
      </p:sp>
      <p:sp>
        <p:nvSpPr>
          <p:cNvPr id="9" name="agenda num 03"/>
          <p:cNvSpPr txBox="1"/>
          <p:nvPr/>
        </p:nvSpPr>
        <p:spPr>
          <a:xfrm>
            <a:off x="685800" y="31546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03</a:t>
            </a:r>
            <a:endParaRPr lang="en-US" sz="2200" dirty="0"/>
          </a:p>
        </p:txBody>
      </p:sp>
      <p:sp>
        <p:nvSpPr>
          <p:cNvPr id="10" name="agenda title 03"/>
          <p:cNvSpPr txBox="1"/>
          <p:nvPr/>
        </p:nvSpPr>
        <p:spPr>
          <a:xfrm>
            <a:off x="1508760" y="3154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實驗設置</a:t>
            </a:r>
            <a:endParaRPr lang="en-US" sz="2200" dirty="0"/>
          </a:p>
        </p:txBody>
      </p:sp>
      <p:sp>
        <p:nvSpPr>
          <p:cNvPr id="11" name="agenda desc 03"/>
          <p:cNvSpPr txBox="1"/>
          <p:nvPr/>
        </p:nvSpPr>
        <p:spPr>
          <a:xfrm>
            <a:off x="3886200" y="3209544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TextWorld 任務、比較方法、參數</a:t>
            </a:r>
            <a:endParaRPr lang="en-US" sz="1600" dirty="0"/>
          </a:p>
        </p:txBody>
      </p:sp>
      <p:sp>
        <p:nvSpPr>
          <p:cNvPr id="12" name="agenda num 04"/>
          <p:cNvSpPr txBox="1"/>
          <p:nvPr/>
        </p:nvSpPr>
        <p:spPr>
          <a:xfrm>
            <a:off x="685800" y="3840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04</a:t>
            </a:r>
            <a:endParaRPr lang="en-US" sz="2200" dirty="0"/>
          </a:p>
        </p:txBody>
      </p:sp>
      <p:sp>
        <p:nvSpPr>
          <p:cNvPr id="13" name="agenda title 04"/>
          <p:cNvSpPr txBox="1"/>
          <p:nvPr/>
        </p:nvSpPr>
        <p:spPr>
          <a:xfrm>
            <a:off x="1508760" y="3840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實驗結果</a:t>
            </a:r>
            <a:endParaRPr lang="en-US" sz="2200" dirty="0"/>
          </a:p>
        </p:txBody>
      </p:sp>
      <p:sp>
        <p:nvSpPr>
          <p:cNvPr id="14" name="agenda desc 04"/>
          <p:cNvSpPr txBox="1"/>
          <p:nvPr/>
        </p:nvSpPr>
        <p:spPr>
          <a:xfrm>
            <a:off x="3886200" y="3895344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探索型關卡、逐步指示關卡、跨關卡比較</a:t>
            </a:r>
            <a:endParaRPr lang="en-US" sz="1600" dirty="0"/>
          </a:p>
        </p:txBody>
      </p:sp>
      <p:sp>
        <p:nvSpPr>
          <p:cNvPr id="15" name="agenda num 05"/>
          <p:cNvSpPr txBox="1"/>
          <p:nvPr/>
        </p:nvSpPr>
        <p:spPr>
          <a:xfrm>
            <a:off x="685800" y="45262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05</a:t>
            </a:r>
            <a:endParaRPr lang="en-US" sz="2200" dirty="0"/>
          </a:p>
        </p:txBody>
      </p:sp>
      <p:sp>
        <p:nvSpPr>
          <p:cNvPr id="16" name="agenda title 05"/>
          <p:cNvSpPr txBox="1"/>
          <p:nvPr/>
        </p:nvSpPr>
        <p:spPr>
          <a:xfrm>
            <a:off x="1508760" y="4526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結論</a:t>
            </a:r>
            <a:endParaRPr lang="en-US" sz="2200" dirty="0"/>
          </a:p>
        </p:txBody>
      </p:sp>
      <p:sp>
        <p:nvSpPr>
          <p:cNvPr id="17" name="agenda num A"/>
          <p:cNvSpPr txBox="1"/>
          <p:nvPr/>
        </p:nvSpPr>
        <p:spPr>
          <a:xfrm>
            <a:off x="685800" y="52120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A</a:t>
            </a:r>
            <a:endParaRPr lang="en-US" sz="2200" dirty="0"/>
          </a:p>
        </p:txBody>
      </p:sp>
      <p:sp>
        <p:nvSpPr>
          <p:cNvPr id="18" name="agenda title A"/>
          <p:cNvSpPr txBox="1"/>
          <p:nvPr/>
        </p:nvSpPr>
        <p:spPr>
          <a:xfrm>
            <a:off x="1508760" y="5212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附錄</a:t>
            </a:r>
            <a:endParaRPr lang="en-US" sz="2200" dirty="0"/>
          </a:p>
        </p:txBody>
      </p:sp>
      <p:sp>
        <p:nvSpPr>
          <p:cNvPr id="19" name="agenda desc A"/>
          <p:cNvSpPr txBox="1"/>
          <p:nvPr/>
        </p:nvSpPr>
        <p:spPr>
          <a:xfrm>
            <a:off x="3886200" y="5266944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管線驗證：Countdown 與一元一次方程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 txBox="1"/>
          <p:nvPr/>
        </p:nvSpPr>
        <p:spPr>
          <a:xfrm>
            <a:off x="685800" y="2286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01</a:t>
            </a:r>
            <a:endParaRPr lang="en-US" sz="4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306324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概述</a:t>
            </a:r>
            <a:endParaRPr lang="en-US" sz="4000" dirty="0"/>
          </a:p>
        </p:txBody>
      </p:sp>
      <p:sp>
        <p:nvSpPr>
          <p:cNvPr id="4" name="section subtitle"/>
          <p:cNvSpPr txBox="1"/>
          <p:nvPr/>
        </p:nvSpPr>
        <p:spPr>
          <a:xfrm>
            <a:off x="685800" y="393192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以 Laya 取代 AlphaZero 的神經網路，在文字任務上進行搜尋與自我對弈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6858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01  概述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架構：AlphaZero × Laya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54480"/>
            <a:ext cx="10820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沿用 AlphaZero 的「網路 + 搜尋」互相強化結構；網路由 Laya 擔任，狀態以文字表示。</a:t>
            </a:r>
            <a:endParaRPr lang="en-US" sz="1600" dirty="0"/>
          </a:p>
        </p:txBody>
      </p:sp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2009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108960"/>
                <a:gridCol w="5516575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元件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AlphaZero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本研究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狀態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棋盤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文字：目標、位置、物品欄、近期動作、剩餘步數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Policy（先驗）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CNN policy head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Laya choice 題型：合法指令作為選項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Value（價值）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CNN value head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Laya noul 題型：V = 2·P(是) − 1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搜尋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PUCT MCTS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PUCT MCTS，16 次模擬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訓練資料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Self-play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Teacher 示範（warm start）+ Self-play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訓練目標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搜尋分佈 / 對局結果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搜尋分佈 / 對局 reward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6858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01  概述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Laya：非自回歸決策模型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輸入「情境 + 問題 + 選項」，一次前向計算輸出各選項機率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laya-multilingual：644 MB，多語 BERT 類編碼器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各題型具溫度參數，用於機率校準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同一狀態文字產生兩個問題，分別對應 policy 與 value</a:t>
            </a:r>
            <a:endParaRPr lang="en-US" sz="1600" dirty="0"/>
          </a:p>
        </p:txBody>
      </p:sp>
      <p:sp>
        <p:nvSpPr>
          <p:cNvPr id="5" name="box: 狀態文字"/>
          <p:cNvSpPr/>
          <p:nvPr/>
        </p:nvSpPr>
        <p:spPr>
          <a:xfrm>
            <a:off x="5349240" y="2514600"/>
            <a:ext cx="19202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label: 狀態文字"/>
          <p:cNvSpPr txBox="1"/>
          <p:nvPr/>
        </p:nvSpPr>
        <p:spPr>
          <a:xfrm>
            <a:off x="5440680" y="251460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狀態文字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目標・位置・物品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近期動作・剩餘步數</a:t>
            </a:r>
            <a:endParaRPr lang="en-US" sz="1500" dirty="0"/>
          </a:p>
        </p:txBody>
      </p:sp>
      <p:sp>
        <p:nvSpPr>
          <p:cNvPr id="7" name="policy box"/>
          <p:cNvSpPr/>
          <p:nvPr/>
        </p:nvSpPr>
        <p:spPr>
          <a:xfrm>
            <a:off x="7863840" y="1783080"/>
            <a:ext cx="3639312" cy="16916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policy text"/>
          <p:cNvSpPr txBox="1"/>
          <p:nvPr/>
        </p:nvSpPr>
        <p:spPr>
          <a:xfrm>
            <a:off x="8046720" y="1783080"/>
            <a:ext cx="327355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Policy　choice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Which command brings you closest to completing the goal?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A. go east　B. open toolbox　C. …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→ 先驗 P(a)</a:t>
            </a:r>
            <a:endParaRPr lang="en-US" sz="1400" dirty="0"/>
          </a:p>
        </p:txBody>
      </p:sp>
      <p:sp>
        <p:nvSpPr>
          <p:cNvPr id="9" name="value box"/>
          <p:cNvSpPr/>
          <p:nvPr/>
        </p:nvSpPr>
        <p:spPr>
          <a:xfrm>
            <a:off x="7863840" y="3657600"/>
            <a:ext cx="3639312" cy="16916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value text"/>
          <p:cNvSpPr txBox="1"/>
          <p:nvPr/>
        </p:nvSpPr>
        <p:spPr>
          <a:xfrm>
            <a:off x="8046720" y="3657600"/>
            <a:ext cx="327355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Value　noul（是 / 否）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Will the goal be completed within the remaining steps?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→ V = 2·P(是) − 1</a:t>
            </a:r>
            <a:endParaRPr lang="en-US" sz="1400" dirty="0"/>
          </a:p>
        </p:txBody>
      </p:sp>
      <p:sp>
        <p:nvSpPr>
          <p:cNvPr id="11" name="arrow"/>
          <p:cNvSpPr/>
          <p:nvPr/>
        </p:nvSpPr>
        <p:spPr>
          <a:xfrm flipV="1">
            <a:off x="7269480" y="2633472"/>
            <a:ext cx="594360" cy="338328"/>
          </a:xfrm>
          <a:prstGeom prst="line">
            <a:avLst/>
          </a:prstGeom>
          <a:noFill/>
          <a:ln w="15875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2" name="arrow"/>
          <p:cNvSpPr/>
          <p:nvPr/>
        </p:nvSpPr>
        <p:spPr>
          <a:xfrm>
            <a:off x="7269480" y="3246120"/>
            <a:ext cx="594360" cy="1252728"/>
          </a:xfrm>
          <a:prstGeom prst="line">
            <a:avLst/>
          </a:prstGeom>
          <a:noFill/>
          <a:ln w="15875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6858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01  概述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搜尋：PUCT</a:t>
            </a:r>
            <a:endParaRPr lang="en-US" sz="3200" dirty="0"/>
          </a:p>
        </p:txBody>
      </p:sp>
      <p:sp>
        <p:nvSpPr>
          <p:cNvPr id="4" name="formula"/>
          <p:cNvSpPr txBox="1"/>
          <p:nvPr/>
        </p:nvSpPr>
        <p:spPr>
          <a:xfrm>
            <a:off x="685800" y="173736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score(a) = Q(a) + c</a:t>
            </a:r>
            <a:r>
              <a:rPr lang="en-US" sz="2800" baseline="-40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puct</a:t>
            </a:r>
            <a:r>
              <a:rPr lang="en-US" sz="2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P(a) · √N(s) / (1 + N(a))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7432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Q(a)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2004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該動作下所有模擬的平均價值（利用）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27432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P(a)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32004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Laya 給出的先驗機率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001000" y="27432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001000" y="32004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拜訪次數；先驗高且試得少的動作獲得探索加成</a:t>
            </a:r>
            <a:endParaRPr lang="en-US" sz="1500" dirty="0"/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4160520"/>
          <a:ext cx="1082009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560320"/>
                <a:gridCol w="5882335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設定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數值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說明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模擬次數 / 批次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16 / 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以 virtual loss 分散同批葉節點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c_puct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探索與利用的權衡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Dirichlet 雜訊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α = 0.3，25%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僅於 self-play 加在根節點先驗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決策輸出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根節點拜訪分佈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即行動依據，亦為 policy 訓練目標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 txBox="1"/>
          <p:nvPr/>
        </p:nvSpPr>
        <p:spPr>
          <a:xfrm>
            <a:off x="685800" y="2286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02</a:t>
            </a:r>
            <a:endParaRPr lang="en-US" sz="4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306324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方法</a:t>
            </a:r>
            <a:endParaRPr lang="en-US" sz="4000" dirty="0"/>
          </a:p>
        </p:txBody>
      </p:sp>
      <p:sp>
        <p:nvSpPr>
          <p:cNvPr id="4" name="section subtitle"/>
          <p:cNvSpPr txBox="1"/>
          <p:nvPr/>
        </p:nvSpPr>
        <p:spPr>
          <a:xfrm>
            <a:off x="685800" y="393192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訓練迴圈、reward 設計、self-play 與 gate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6858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02  方法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整體迴圈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初始化</a:t>
            </a:r>
            <a:endParaRPr lang="en-US" sz="1200" dirty="0"/>
          </a:p>
        </p:txBody>
      </p:sp>
      <p:sp>
        <p:nvSpPr>
          <p:cNvPr id="5" name="box: 原始 Laya 評估"/>
          <p:cNvSpPr/>
          <p:nvPr/>
        </p:nvSpPr>
        <p:spPr>
          <a:xfrm>
            <a:off x="685800" y="2286000"/>
            <a:ext cx="23317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label: 原始 Laya 評估"/>
          <p:cNvSpPr txBox="1"/>
          <p:nvPr/>
        </p:nvSpPr>
        <p:spPr>
          <a:xfrm>
            <a:off x="777240" y="228600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原始 Laya 評估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未經任務微調</a:t>
            </a:r>
            <a:endParaRPr lang="en-US" sz="1600" dirty="0"/>
          </a:p>
        </p:txBody>
      </p:sp>
      <p:sp>
        <p:nvSpPr>
          <p:cNvPr id="7" name="box: Teacher 示範"/>
          <p:cNvSpPr/>
          <p:nvPr/>
        </p:nvSpPr>
        <p:spPr>
          <a:xfrm>
            <a:off x="3520440" y="2286000"/>
            <a:ext cx="23317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label: Teacher 示範"/>
          <p:cNvSpPr txBox="1"/>
          <p:nvPr/>
        </p:nvSpPr>
        <p:spPr>
          <a:xfrm>
            <a:off x="3611880" y="228600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Teacher 示範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最佳解題器產生資料</a:t>
            </a:r>
            <a:endParaRPr lang="en-US" sz="1600" dirty="0"/>
          </a:p>
        </p:txBody>
      </p:sp>
      <p:sp>
        <p:nvSpPr>
          <p:cNvPr id="9" name="arrow"/>
          <p:cNvSpPr/>
          <p:nvPr/>
        </p:nvSpPr>
        <p:spPr>
          <a:xfrm>
            <a:off x="3017520" y="2811780"/>
            <a:ext cx="502920" cy="0"/>
          </a:xfrm>
          <a:prstGeom prst="line">
            <a:avLst/>
          </a:prstGeom>
          <a:noFill/>
          <a:ln w="15875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box: Warm start"/>
          <p:cNvSpPr/>
          <p:nvPr/>
        </p:nvSpPr>
        <p:spPr>
          <a:xfrm>
            <a:off x="6355080" y="2286000"/>
            <a:ext cx="23317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label: Warm start"/>
          <p:cNvSpPr txBox="1"/>
          <p:nvPr/>
        </p:nvSpPr>
        <p:spPr>
          <a:xfrm>
            <a:off x="6446520" y="228600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Warm start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以示範資料訓練 Laya</a:t>
            </a:r>
            <a:endParaRPr lang="en-US" sz="1600" dirty="0"/>
          </a:p>
        </p:txBody>
      </p:sp>
      <p:sp>
        <p:nvSpPr>
          <p:cNvPr id="12" name="arrow"/>
          <p:cNvSpPr/>
          <p:nvPr/>
        </p:nvSpPr>
        <p:spPr>
          <a:xfrm>
            <a:off x="5852160" y="2811780"/>
            <a:ext cx="502920" cy="0"/>
          </a:xfrm>
          <a:prstGeom prst="line">
            <a:avLst/>
          </a:prstGeom>
          <a:noFill/>
          <a:ln w="15875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3" name="box: 初始評分"/>
          <p:cNvSpPr/>
          <p:nvPr/>
        </p:nvSpPr>
        <p:spPr>
          <a:xfrm>
            <a:off x="9189720" y="2286000"/>
            <a:ext cx="23317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label: 初始評分"/>
          <p:cNvSpPr txBox="1"/>
          <p:nvPr/>
        </p:nvSpPr>
        <p:spPr>
          <a:xfrm>
            <a:off x="9281160" y="228600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初始評分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設定 gate 參考分數</a:t>
            </a:r>
            <a:endParaRPr lang="en-US" sz="1600" dirty="0"/>
          </a:p>
        </p:txBody>
      </p:sp>
      <p:sp>
        <p:nvSpPr>
          <p:cNvPr id="15" name="arrow"/>
          <p:cNvSpPr/>
          <p:nvPr/>
        </p:nvSpPr>
        <p:spPr>
          <a:xfrm>
            <a:off x="8686800" y="2811780"/>
            <a:ext cx="502920" cy="0"/>
          </a:xfrm>
          <a:prstGeom prst="line">
            <a:avLst/>
          </a:prstGeom>
          <a:noFill/>
          <a:ln w="15875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173736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迭代（8 輪）</a:t>
            </a:r>
            <a:endParaRPr lang="en-US" sz="1200" dirty="0"/>
          </a:p>
        </p:txBody>
      </p:sp>
      <p:sp>
        <p:nvSpPr>
          <p:cNvPr id="17" name="box: Self-play"/>
          <p:cNvSpPr/>
          <p:nvPr/>
        </p:nvSpPr>
        <p:spPr>
          <a:xfrm>
            <a:off x="685800" y="4251960"/>
            <a:ext cx="182880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5875">
            <a:solidFill>
              <a:srgbClr val="0F766E"/>
            </a:solidFill>
            <a:prstDash val="solid"/>
          </a:ln>
        </p:spPr>
      </p:sp>
      <p:sp>
        <p:nvSpPr>
          <p:cNvPr id="18" name="label: Self-play"/>
          <p:cNvSpPr txBox="1"/>
          <p:nvPr/>
        </p:nvSpPr>
        <p:spPr>
          <a:xfrm>
            <a:off x="777240" y="42519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Self-play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Laya + MCTS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每輪 64 局</a:t>
            </a:r>
            <a:endParaRPr lang="en-US" sz="1600" dirty="0"/>
          </a:p>
        </p:txBody>
      </p:sp>
      <p:sp>
        <p:nvSpPr>
          <p:cNvPr id="19" name="box: 訓練樣本"/>
          <p:cNvSpPr/>
          <p:nvPr/>
        </p:nvSpPr>
        <p:spPr>
          <a:xfrm>
            <a:off x="2926080" y="4251960"/>
            <a:ext cx="182880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5875">
            <a:solidFill>
              <a:srgbClr val="0F766E"/>
            </a:solidFill>
            <a:prstDash val="solid"/>
          </a:ln>
        </p:spPr>
      </p:sp>
      <p:sp>
        <p:nvSpPr>
          <p:cNvPr id="20" name="label: 訓練樣本"/>
          <p:cNvSpPr txBox="1"/>
          <p:nvPr/>
        </p:nvSpPr>
        <p:spPr>
          <a:xfrm>
            <a:off x="3017520" y="42519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訓練樣本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policy：搜尋分佈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value：對局 reward</a:t>
            </a:r>
            <a:endParaRPr lang="en-US" sz="1600" dirty="0"/>
          </a:p>
        </p:txBody>
      </p:sp>
      <p:sp>
        <p:nvSpPr>
          <p:cNvPr id="21" name="arrow"/>
          <p:cNvSpPr/>
          <p:nvPr/>
        </p:nvSpPr>
        <p:spPr>
          <a:xfrm>
            <a:off x="2514600" y="4846320"/>
            <a:ext cx="411480" cy="0"/>
          </a:xfrm>
          <a:prstGeom prst="line">
            <a:avLst/>
          </a:prstGeom>
          <a:noFill/>
          <a:ln w="1587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22" name="box: 訓練"/>
          <p:cNvSpPr/>
          <p:nvPr/>
        </p:nvSpPr>
        <p:spPr>
          <a:xfrm>
            <a:off x="5166360" y="4251960"/>
            <a:ext cx="182880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5875">
            <a:solidFill>
              <a:srgbClr val="0F766E"/>
            </a:solidFill>
            <a:prstDash val="solid"/>
          </a:ln>
        </p:spPr>
      </p:sp>
      <p:sp>
        <p:nvSpPr>
          <p:cNvPr id="23" name="label: 訓練"/>
          <p:cNvSpPr txBox="1"/>
          <p:nvPr/>
        </p:nvSpPr>
        <p:spPr>
          <a:xfrm>
            <a:off x="5257800" y="42519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訓練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replay buffer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1 epoch・溫度校準</a:t>
            </a:r>
            <a:endParaRPr lang="en-US" sz="1600" dirty="0"/>
          </a:p>
        </p:txBody>
      </p:sp>
      <p:sp>
        <p:nvSpPr>
          <p:cNvPr id="24" name="arrow"/>
          <p:cNvSpPr/>
          <p:nvPr/>
        </p:nvSpPr>
        <p:spPr>
          <a:xfrm>
            <a:off x="4754880" y="4846320"/>
            <a:ext cx="411480" cy="0"/>
          </a:xfrm>
          <a:prstGeom prst="line">
            <a:avLst/>
          </a:prstGeom>
          <a:noFill/>
          <a:ln w="1587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25" name="box: Gate"/>
          <p:cNvSpPr/>
          <p:nvPr/>
        </p:nvSpPr>
        <p:spPr>
          <a:xfrm>
            <a:off x="7406640" y="4251960"/>
            <a:ext cx="182880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5875">
            <a:solidFill>
              <a:srgbClr val="0F766E"/>
            </a:solidFill>
            <a:prstDash val="solid"/>
          </a:ln>
        </p:spPr>
      </p:sp>
      <p:sp>
        <p:nvSpPr>
          <p:cNvPr id="26" name="label: Gate"/>
          <p:cNvSpPr txBox="1"/>
          <p:nvPr/>
        </p:nvSpPr>
        <p:spPr>
          <a:xfrm>
            <a:off x="7498080" y="42519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Gate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驗證集評分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退步則還原</a:t>
            </a:r>
            <a:endParaRPr lang="en-US" sz="1600" dirty="0"/>
          </a:p>
        </p:txBody>
      </p:sp>
      <p:sp>
        <p:nvSpPr>
          <p:cNvPr id="27" name="arrow"/>
          <p:cNvSpPr/>
          <p:nvPr/>
        </p:nvSpPr>
        <p:spPr>
          <a:xfrm>
            <a:off x="6995160" y="4846320"/>
            <a:ext cx="411480" cy="0"/>
          </a:xfrm>
          <a:prstGeom prst="line">
            <a:avLst/>
          </a:prstGeom>
          <a:noFill/>
          <a:ln w="1587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28" name="box: 測試評估"/>
          <p:cNvSpPr/>
          <p:nvPr/>
        </p:nvSpPr>
        <p:spPr>
          <a:xfrm>
            <a:off x="9646920" y="4251960"/>
            <a:ext cx="182880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5875">
            <a:solidFill>
              <a:srgbClr val="0F766E"/>
            </a:solidFill>
            <a:prstDash val="solid"/>
          </a:ln>
        </p:spPr>
      </p:sp>
      <p:sp>
        <p:nvSpPr>
          <p:cNvPr id="29" name="label: 測試評估"/>
          <p:cNvSpPr txBox="1"/>
          <p:nvPr/>
        </p:nvSpPr>
        <p:spPr>
          <a:xfrm>
            <a:off x="9738360" y="42519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測試評估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保留權重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100 局測試集</a:t>
            </a:r>
            <a:endParaRPr lang="en-US" sz="1600" dirty="0"/>
          </a:p>
        </p:txBody>
      </p:sp>
      <p:sp>
        <p:nvSpPr>
          <p:cNvPr id="30" name="arrow"/>
          <p:cNvSpPr/>
          <p:nvPr/>
        </p:nvSpPr>
        <p:spPr>
          <a:xfrm>
            <a:off x="9235440" y="4846320"/>
            <a:ext cx="411480" cy="0"/>
          </a:xfrm>
          <a:prstGeom prst="line">
            <a:avLst/>
          </a:prstGeom>
          <a:noFill/>
          <a:ln w="1587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1" name="arrow"/>
          <p:cNvSpPr/>
          <p:nvPr/>
        </p:nvSpPr>
        <p:spPr>
          <a:xfrm>
            <a:off x="10561320" y="5440680"/>
            <a:ext cx="0" cy="411480"/>
          </a:xfrm>
          <a:prstGeom prst="line">
            <a:avLst/>
          </a:prstGeom>
          <a:noFill/>
          <a:ln w="15875">
            <a:solidFill>
              <a:srgbClr val="0F766E"/>
            </a:solidFill>
            <a:prstDash val="solid"/>
          </a:ln>
        </p:spPr>
      </p:sp>
      <p:sp>
        <p:nvSpPr>
          <p:cNvPr id="32" name="arrow"/>
          <p:cNvSpPr/>
          <p:nvPr/>
        </p:nvSpPr>
        <p:spPr>
          <a:xfrm flipH="1">
            <a:off x="1600200" y="5852160"/>
            <a:ext cx="8961120" cy="0"/>
          </a:xfrm>
          <a:prstGeom prst="line">
            <a:avLst/>
          </a:prstGeom>
          <a:noFill/>
          <a:ln w="15875">
            <a:solidFill>
              <a:srgbClr val="0F766E"/>
            </a:solidFill>
            <a:prstDash val="solid"/>
          </a:ln>
        </p:spPr>
      </p:sp>
      <p:sp>
        <p:nvSpPr>
          <p:cNvPr id="33" name="arrow"/>
          <p:cNvSpPr/>
          <p:nvPr/>
        </p:nvSpPr>
        <p:spPr>
          <a:xfrm flipV="1">
            <a:off x="1600200" y="5440680"/>
            <a:ext cx="0" cy="411480"/>
          </a:xfrm>
          <a:prstGeom prst="line">
            <a:avLst/>
          </a:prstGeom>
          <a:noFill/>
          <a:ln w="1587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5532120" y="59070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下一輪</a:t>
            </a:r>
            <a:endParaRPr lang="en-US" sz="1100" dirty="0"/>
          </a:p>
        </p:txBody>
      </p:sp>
      <p:sp>
        <p:nvSpPr>
          <p:cNvPr id="35" name="arrow"/>
          <p:cNvSpPr/>
          <p:nvPr/>
        </p:nvSpPr>
        <p:spPr>
          <a:xfrm>
            <a:off x="10355580" y="3337560"/>
            <a:ext cx="0" cy="365760"/>
          </a:xfrm>
          <a:prstGeom prst="line">
            <a:avLst/>
          </a:prstGeom>
          <a:noFill/>
          <a:ln w="15875">
            <a:solidFill>
              <a:srgbClr val="9CA3AF"/>
            </a:solidFill>
            <a:prstDash val="solid"/>
          </a:ln>
        </p:spPr>
      </p:sp>
      <p:sp>
        <p:nvSpPr>
          <p:cNvPr id="36" name="arrow"/>
          <p:cNvSpPr/>
          <p:nvPr/>
        </p:nvSpPr>
        <p:spPr>
          <a:xfrm flipH="1">
            <a:off x="1600200" y="3703320"/>
            <a:ext cx="8755380" cy="0"/>
          </a:xfrm>
          <a:prstGeom prst="line">
            <a:avLst/>
          </a:prstGeom>
          <a:noFill/>
          <a:ln w="15875">
            <a:solidFill>
              <a:srgbClr val="9CA3AF"/>
            </a:solidFill>
            <a:prstDash val="solid"/>
          </a:ln>
        </p:spPr>
      </p:sp>
      <p:sp>
        <p:nvSpPr>
          <p:cNvPr id="37" name="arrow"/>
          <p:cNvSpPr/>
          <p:nvPr/>
        </p:nvSpPr>
        <p:spPr>
          <a:xfrm>
            <a:off x="1600200" y="3703320"/>
            <a:ext cx="0" cy="548640"/>
          </a:xfrm>
          <a:prstGeom prst="line">
            <a:avLst/>
          </a:prstGeom>
          <a:noFill/>
          <a:ln w="15875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6858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02  方法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Reward 設計</a:t>
            </a:r>
            <a:endParaRPr lang="en-US" sz="3200" dirty="0"/>
          </a:p>
        </p:txBody>
      </p:sp>
      <p:sp>
        <p:nvSpPr>
          <p:cNvPr id="4" name="reward formula"/>
          <p:cNvSpPr txBox="1"/>
          <p:nvPr/>
        </p:nvSpPr>
        <p:spPr>
          <a:xfrm>
            <a:off x="685800" y="16916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0.5 + 0.5 · 0.9</a:t>
            </a:r>
            <a:r>
              <a:rPr lang="en-US" sz="3000" baseline="30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377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成功時；n 為步數。失敗時 R = 0。value 目標映射至 [−1, 1]。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01752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下限 0.5：</a:t>
            </a:r>
            <a:r>
              <a:rPr lang="en-US" sz="1500" dirty="0">
                <a:solidFill>
                  <a:schemeClr val="tx1"/>
                </a:solidFill>
              </a:rPr>
              <a:t>成功恆明顯優於失敗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隨步數衰減：</a:t>
            </a:r>
            <a:r>
              <a:rPr lang="en-US" sz="1500" dirty="0">
                <a:solidFill>
                  <a:schemeClr val="tx1"/>
                </a:solidFill>
              </a:rPr>
              <a:t>鼓勵以較少步數完成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僅用 0.9ⁿ 的問題：</a:t>
            </a:r>
            <a:r>
              <a:rPr lang="en-US" sz="1500" dirty="0">
                <a:solidFill>
                  <a:schemeClr val="tx1"/>
                </a:solidFill>
              </a:rPr>
              <a:t>步數多時趨近 0，與失敗難以區分，價值網路傾向拖延</a:t>
            </a:r>
            <a:endParaRPr lang="en-US" sz="1500" dirty="0"/>
          </a:p>
        </p:txBody>
      </p:sp>
      <p:graphicFrame>
        <p:nvGraphicFramePr>
          <p:cNvPr id="1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4983480"/>
          <a:ext cx="48463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14400"/>
                <a:gridCol w="914400"/>
                <a:gridCol w="91440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步數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0.864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0.795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0.715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0.657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reward chart" descr=""/>
          <p:cNvGraphicFramePr/>
          <p:nvPr/>
        </p:nvGraphicFramePr>
        <p:xfrm>
          <a:off x="6035040" y="164592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6858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02  方法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Self-play 與訓練目標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54480"/>
            <a:ext cx="10820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每輪以目前權重的 Laya + MCTS 進行 64 局；每一步轉為一筆訓練樣本。</a:t>
            </a:r>
            <a:endParaRPr lang="en-US" sz="1600" dirty="0"/>
          </a:p>
        </p:txBody>
      </p:sp>
      <p:graphicFrame>
        <p:nvGraphicFramePr>
          <p:cNvPr id="1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2009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206240"/>
                <a:gridCol w="4510735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項目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設計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理由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Policy 目標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根節點拜訪分佈，經銳化（溫度 0.25）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16 次模擬的分佈過於平坦，避免稀釋既有偏好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Value 目標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該局最終 reward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包含失敗與繞路的真實結果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失敗局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僅訓練 value，不訓練 policy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不模仿失敗的走法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Replay buffer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全部 teacher 資料 + 全部 self-play 資料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每輪以整個 buffer 訓練 1 epoch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溫度校準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保留 10% 資料（上限 400 筆）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校準 Laya 機率輸出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6858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02  方法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Gate 與資料切分</a:t>
            </a:r>
            <a:endParaRPr lang="en-US" sz="3200" dirty="0"/>
          </a:p>
        </p:txBody>
      </p:sp>
      <p:sp>
        <p:nvSpPr>
          <p:cNvPr id="4" name="box: 訓練後於驗證集評分"/>
          <p:cNvSpPr/>
          <p:nvPr/>
        </p:nvSpPr>
        <p:spPr>
          <a:xfrm>
            <a:off x="685800" y="1874520"/>
            <a:ext cx="402336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label: 訓練後於驗證集評分"/>
          <p:cNvSpPr txBox="1"/>
          <p:nvPr/>
        </p:nvSpPr>
        <p:spPr>
          <a:xfrm>
            <a:off x="777240" y="18745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訓練後於驗證集評分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PUCT16 reward，40 局</a:t>
            </a:r>
            <a:endParaRPr lang="en-US" sz="1600" dirty="0"/>
          </a:p>
        </p:txBody>
      </p:sp>
      <p:sp>
        <p:nvSpPr>
          <p:cNvPr id="6" name="arrow"/>
          <p:cNvSpPr/>
          <p:nvPr/>
        </p:nvSpPr>
        <p:spPr>
          <a:xfrm>
            <a:off x="2697480" y="2697480"/>
            <a:ext cx="0" cy="411480"/>
          </a:xfrm>
          <a:prstGeom prst="line">
            <a:avLst/>
          </a:prstGeom>
          <a:noFill/>
          <a:ln w="15875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7" name="box: 與歷史最佳比較"/>
          <p:cNvSpPr/>
          <p:nvPr/>
        </p:nvSpPr>
        <p:spPr>
          <a:xfrm>
            <a:off x="685800" y="3108960"/>
            <a:ext cx="402336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label: 與歷史最佳比較"/>
          <p:cNvSpPr txBox="1"/>
          <p:nvPr/>
        </p:nvSpPr>
        <p:spPr>
          <a:xfrm>
            <a:off x="777240" y="31089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與歷史最佳比較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容許退步 0.02</a:t>
            </a:r>
            <a:endParaRPr lang="en-US" sz="1600" dirty="0"/>
          </a:p>
        </p:txBody>
      </p:sp>
      <p:sp>
        <p:nvSpPr>
          <p:cNvPr id="9" name="arrow"/>
          <p:cNvSpPr/>
          <p:nvPr/>
        </p:nvSpPr>
        <p:spPr>
          <a:xfrm>
            <a:off x="2697480" y="3931920"/>
            <a:ext cx="0" cy="411480"/>
          </a:xfrm>
          <a:prstGeom prst="line">
            <a:avLst/>
          </a:prstGeom>
          <a:noFill/>
          <a:ln w="15875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box: 保留"/>
          <p:cNvSpPr/>
          <p:nvPr/>
        </p:nvSpPr>
        <p:spPr>
          <a:xfrm>
            <a:off x="685800" y="434340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label: 保留"/>
          <p:cNvSpPr txBox="1"/>
          <p:nvPr/>
        </p:nvSpPr>
        <p:spPr>
          <a:xfrm>
            <a:off x="777240" y="43434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保留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測試集評估</a:t>
            </a:r>
            <a:endParaRPr lang="en-US" sz="1600" dirty="0"/>
          </a:p>
        </p:txBody>
      </p:sp>
      <p:sp>
        <p:nvSpPr>
          <p:cNvPr id="12" name="box: 還原"/>
          <p:cNvSpPr/>
          <p:nvPr/>
        </p:nvSpPr>
        <p:spPr>
          <a:xfrm>
            <a:off x="2788920" y="434340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label: 還原"/>
          <p:cNvSpPr txBox="1"/>
          <p:nvPr/>
        </p:nvSpPr>
        <p:spPr>
          <a:xfrm>
            <a:off x="2880360" y="43434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還原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沿用上一版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4480560"/>
            <a:ext cx="51937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借自 AlphaGo Zero：僅保留不退步的權重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未設 gate 時，self-play 可能使模型退步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驗證集決定保留與否，測試集僅評估保留的權重，避免以測試題選模型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18288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資料切分（TextWorld，seed 互不重疊）</a:t>
            </a:r>
            <a:endParaRPr lang="en-US" sz="1500" dirty="0"/>
          </a:p>
        </p:txBody>
      </p:sp>
      <p:graphicFrame>
        <p:nvGraphicFramePr>
          <p:cNvPr id="1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331720"/>
          <a:ext cx="519379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263347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切分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遊戲數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用途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train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150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teacher 示範、self-play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val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gate 決策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test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報告分數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 txBox="1"/>
          <p:nvPr/>
        </p:nvSpPr>
        <p:spPr>
          <a:xfrm>
            <a:off x="685800" y="2286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03</a:t>
            </a:r>
            <a:endParaRPr lang="en-US" sz="4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306324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實驗設置</a:t>
            </a:r>
            <a:endParaRPr lang="en-US" sz="4000" dirty="0"/>
          </a:p>
        </p:txBody>
      </p:sp>
      <p:sp>
        <p:nvSpPr>
          <p:cNvPr id="4" name="section subtitle"/>
          <p:cNvSpPr txBox="1"/>
          <p:nvPr/>
        </p:nvSpPr>
        <p:spPr>
          <a:xfrm>
            <a:off x="685800" y="393192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TextWorld 任務、比較方法與參數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6858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03  實驗設置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任務：TextWorld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54480"/>
            <a:ext cx="10820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微軟的文字冒險遊戲產生器；可控制房間數、物件數與任務步數，並自動判定成敗。</a:t>
            </a:r>
            <a:endParaRPr lang="en-US" sz="1600" dirty="0"/>
          </a:p>
        </p:txBody>
      </p:sp>
      <p:graphicFrame>
        <p:nvGraphicFramePr>
          <p:cNvPr id="1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194560"/>
          <a:ext cx="1082009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1188720"/>
                <a:gridCol w="1645920"/>
                <a:gridCol w="3291840"/>
                <a:gridCol w="1676095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關卡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房間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物件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任務步數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目標描述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步數上限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逐步指示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逐步指示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L2-goal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僅最終目標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L3-goal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僅最終目標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C1（料理）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 種食材；讀食譜後依序操作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85800" y="512064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逐步指示：</a:t>
            </a:r>
            <a:r>
              <a:rPr lang="en-US" sz="1500" dirty="0">
                <a:solidFill>
                  <a:schemeClr val="tx1"/>
                </a:solidFill>
              </a:rPr>
              <a:t>目標列出每一步，照做即為最佳解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僅最終目標：</a:t>
            </a:r>
            <a:r>
              <a:rPr lang="en-US" sz="1500" dirty="0">
                <a:solidFill>
                  <a:schemeClr val="tx1"/>
                </a:solidFill>
              </a:rPr>
              <a:t>例如「確認箱子已解鎖」，需自行探索鑰匙位置與路徑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6858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03  實驗設置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狀態表示與 Teacher</a:t>
            </a:r>
            <a:endParaRPr lang="en-US" sz="3200" dirty="0"/>
          </a:p>
        </p:txBody>
      </p:sp>
      <p:sp>
        <p:nvSpPr>
          <p:cNvPr id="4" name="state example bg"/>
          <p:cNvSpPr/>
          <p:nvPr/>
        </p:nvSpPr>
        <p:spPr>
          <a:xfrm>
            <a:off x="685800" y="1691640"/>
            <a:ext cx="5852160" cy="3931920"/>
          </a:xfrm>
          <a:prstGeom prst="roundRect">
            <a:avLst>
              <a:gd name="adj" fmla="val 1395"/>
            </a:avLst>
          </a:prstGeom>
          <a:solidFill>
            <a:schemeClr val="bg2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狀態文字範例（L2-goal）</a:t>
            </a:r>
            <a:endParaRPr lang="en-US" sz="1200" dirty="0"/>
          </a:p>
        </p:txBody>
      </p:sp>
      <p:sp>
        <p:nvSpPr>
          <p:cNvPr id="6" name="state example"/>
          <p:cNvSpPr txBox="1"/>
          <p:nvPr/>
        </p:nvSpPr>
        <p:spPr>
          <a:xfrm>
            <a:off x="960120" y="228600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Please look and see that the Henderson's style chest is unlocked.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Recent actions: close toolbox.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carrying: a licorice strip and a nest of grubs.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Location: Studio. … You make out a TextWorld box. … There is a closed door leading west. There is an unguarded exit to the east.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result: You close the toolbox.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Steps left: 19.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995160" y="1691640"/>
            <a:ext cx="4507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狀態內容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995160" y="2148840"/>
            <a:ext cx="45079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目標、近期 6 個動作、走過的房間、已讀重要內容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物品欄、所在位置、上一步結果、剩餘步數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濾除 look、inventory、examine 等不改變世界的指令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995160" y="3794760"/>
            <a:ext cx="4507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Teacher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995160" y="4251960"/>
            <a:ext cx="45079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依 TextWorld 追蹤的任務進度取得最佳剩餘指令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以 30% 機率隨機動作，涵蓋偏離最佳路線的狀態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料理關卡先讀食譜，再依序操作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6858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03  實驗設置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比較方法與評估方式</a:t>
            </a:r>
            <a:endParaRPr lang="en-US" sz="3200" dirty="0"/>
          </a:p>
        </p:txBody>
      </p:sp>
      <p:graphicFrame>
        <p:nvGraphicFramePr>
          <p:cNvPr id="1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1640"/>
          <a:ext cx="1082009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442655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方法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說明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隨機 rollout 搜尋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不使用 Laya；PUCT16，均勻先驗，價值以隨機走至終局估計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原始 Laya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未經任務微調的 Laya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Warm start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以 teacher 示範資料訓練 2 epoch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Self-play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Warm start 後進行 8 輪 self-play（本研究方法）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Teacher-only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迴圈與 self-play 相同，但 self-play 資料不加入 replay buffer；每輪僅以 teacher 資料重新訓練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85800" y="4572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PUCT16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49834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Laya + 16 次模擬的 PUCT；反映「網路 + 搜尋」的能力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4572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Greedy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309360" y="4983480"/>
            <a:ext cx="5193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不搜尋，直接選擇 Laya 機率最高的動作；反映網路本身的能力</a:t>
            </a:r>
            <a:endParaRPr lang="en-US" sz="1400" dirty="0"/>
          </a:p>
        </p:txBody>
      </p:sp>
      <p:sp>
        <p:nvSpPr>
          <p:cNvPr id="9" name="footnote"/>
          <p:cNvSpPr txBox="1"/>
          <p:nvPr/>
        </p:nvSpPr>
        <p:spPr>
          <a:xfrm>
            <a:off x="685800" y="580644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Teacher-only 作為對照組：若 self-play 優於 teacher-only，增益才能歸因於 self-play 資料，而非 teacher 資料的重複訓練。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6858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03  實驗設置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實驗參數與指標</a:t>
            </a:r>
            <a:endParaRPr lang="en-US" sz="3200" dirty="0"/>
          </a:p>
        </p:txBody>
      </p:sp>
      <p:sp>
        <p:nvSpPr>
          <p:cNvPr id="4" name="stat: teacher 示範遊戲（train）"/>
          <p:cNvSpPr txBox="1"/>
          <p:nvPr/>
        </p:nvSpPr>
        <p:spPr>
          <a:xfrm>
            <a:off x="685800" y="16002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150</a:t>
            </a:r>
            <a:endParaRPr lang="en-US" sz="4000" dirty="0"/>
          </a:p>
        </p:txBody>
      </p:sp>
      <p:sp>
        <p:nvSpPr>
          <p:cNvPr id="5" name="stat label: teacher 示範遊戲（train）"/>
          <p:cNvSpPr txBox="1"/>
          <p:nvPr/>
        </p:nvSpPr>
        <p:spPr>
          <a:xfrm>
            <a:off x="685800" y="24963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teacher 示範遊戲（train）</a:t>
            </a:r>
            <a:endParaRPr lang="en-US" sz="1300" dirty="0"/>
          </a:p>
        </p:txBody>
      </p:sp>
      <p:sp>
        <p:nvSpPr>
          <p:cNvPr id="6" name="stat: self-play 輪數 × 每輪局數"/>
          <p:cNvSpPr txBox="1"/>
          <p:nvPr/>
        </p:nvSpPr>
        <p:spPr>
          <a:xfrm>
            <a:off x="4343400" y="16002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8 × 64</a:t>
            </a:r>
            <a:endParaRPr lang="en-US" sz="4000" dirty="0"/>
          </a:p>
        </p:txBody>
      </p:sp>
      <p:sp>
        <p:nvSpPr>
          <p:cNvPr id="7" name="stat label: self-play 輪數 × 每輪局數"/>
          <p:cNvSpPr txBox="1"/>
          <p:nvPr/>
        </p:nvSpPr>
        <p:spPr>
          <a:xfrm>
            <a:off x="4343400" y="24963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self-play 輪數 × 每輪局數</a:t>
            </a:r>
            <a:endParaRPr lang="en-US" sz="1300" dirty="0"/>
          </a:p>
        </p:txBody>
      </p:sp>
      <p:sp>
        <p:nvSpPr>
          <p:cNvPr id="8" name="stat: PUCT 模擬次數（批次 8）"/>
          <p:cNvSpPr txBox="1"/>
          <p:nvPr/>
        </p:nvSpPr>
        <p:spPr>
          <a:xfrm>
            <a:off x="8001000" y="16002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16</a:t>
            </a:r>
            <a:endParaRPr lang="en-US" sz="4000" dirty="0"/>
          </a:p>
        </p:txBody>
      </p:sp>
      <p:sp>
        <p:nvSpPr>
          <p:cNvPr id="9" name="stat label: PUCT 模擬次數（批次 8）"/>
          <p:cNvSpPr txBox="1"/>
          <p:nvPr/>
        </p:nvSpPr>
        <p:spPr>
          <a:xfrm>
            <a:off x="8001000" y="24963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PUCT 模擬次數（批次 8）</a:t>
            </a:r>
            <a:endParaRPr lang="en-US" sz="1300" dirty="0"/>
          </a:p>
        </p:txBody>
      </p:sp>
      <p:sp>
        <p:nvSpPr>
          <p:cNvPr id="10" name="stat: policy 目標銳化溫度"/>
          <p:cNvSpPr txBox="1"/>
          <p:nvPr/>
        </p:nvSpPr>
        <p:spPr>
          <a:xfrm>
            <a:off x="685800" y="32918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0.25</a:t>
            </a:r>
            <a:endParaRPr lang="en-US" sz="4000" dirty="0"/>
          </a:p>
        </p:txBody>
      </p:sp>
      <p:sp>
        <p:nvSpPr>
          <p:cNvPr id="11" name="stat label: policy 目標銳化溫度"/>
          <p:cNvSpPr txBox="1"/>
          <p:nvPr/>
        </p:nvSpPr>
        <p:spPr>
          <a:xfrm>
            <a:off x="685800" y="418795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policy 目標銳化溫度</a:t>
            </a:r>
            <a:endParaRPr lang="en-US" sz="1300" dirty="0"/>
          </a:p>
        </p:txBody>
      </p:sp>
      <p:sp>
        <p:nvSpPr>
          <p:cNvPr id="12" name="stat: gate 容許退步"/>
          <p:cNvSpPr txBox="1"/>
          <p:nvPr/>
        </p:nvSpPr>
        <p:spPr>
          <a:xfrm>
            <a:off x="4343400" y="32918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0.02</a:t>
            </a:r>
            <a:endParaRPr lang="en-US" sz="4000" dirty="0"/>
          </a:p>
        </p:txBody>
      </p:sp>
      <p:sp>
        <p:nvSpPr>
          <p:cNvPr id="13" name="stat label: gate 容許退步"/>
          <p:cNvSpPr txBox="1"/>
          <p:nvPr/>
        </p:nvSpPr>
        <p:spPr>
          <a:xfrm>
            <a:off x="4343400" y="418795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gate 容許退步</a:t>
            </a:r>
            <a:endParaRPr lang="en-US" sz="1300" dirty="0"/>
          </a:p>
        </p:txBody>
      </p:sp>
      <p:sp>
        <p:nvSpPr>
          <p:cNvPr id="14" name="stat: 每組設定的 seed 數"/>
          <p:cNvSpPr txBox="1"/>
          <p:nvPr/>
        </p:nvSpPr>
        <p:spPr>
          <a:xfrm>
            <a:off x="8001000" y="32918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</a:t>
            </a:r>
            <a:endParaRPr lang="en-US" sz="4000" dirty="0"/>
          </a:p>
        </p:txBody>
      </p:sp>
      <p:sp>
        <p:nvSpPr>
          <p:cNvPr id="15" name="stat label: 每組設定的 seed 數"/>
          <p:cNvSpPr txBox="1"/>
          <p:nvPr/>
        </p:nvSpPr>
        <p:spPr>
          <a:xfrm>
            <a:off x="8001000" y="418795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每組設定的 seed 數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5029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指標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783080" y="50292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平均 reward（100 局測試集）與成功率；100 局評估的雜訊約 ±0.02–0.03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成對差距：同一 seed 下兩方法相減後跨 seed 平均，抵消 warm start 的 seed 差異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 txBox="1"/>
          <p:nvPr/>
        </p:nvSpPr>
        <p:spPr>
          <a:xfrm>
            <a:off x="685800" y="2286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04</a:t>
            </a:r>
            <a:endParaRPr lang="en-US" sz="4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306324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實驗結果</a:t>
            </a:r>
            <a:endParaRPr lang="en-US" sz="4000" dirty="0"/>
          </a:p>
        </p:txBody>
      </p:sp>
      <p:sp>
        <p:nvSpPr>
          <p:cNvPr id="4" name="section subtitle"/>
          <p:cNvSpPr txBox="1"/>
          <p:nvPr/>
        </p:nvSpPr>
        <p:spPr>
          <a:xfrm>
            <a:off x="685800" y="393192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TextWorld：探索型關卡、逐步指示關卡與跨關卡比較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6858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04  實驗結果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結果總覽：探索型關卡與料理關卡</a:t>
            </a:r>
            <a:endParaRPr lang="en-US" sz="3200" dirty="0"/>
          </a:p>
        </p:txBody>
      </p:sp>
      <p:graphicFrame>
        <p:nvGraphicFramePr>
          <p:cNvPr id="1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1640"/>
          <a:ext cx="10820095" cy="914400"/>
        </p:xfrm>
        <a:graphic>
          <a:graphicData uri="http://schemas.openxmlformats.org/drawingml/2006/table">
            <a:tbl>
              <a:tblPr/>
              <a:tblGrid>
                <a:gridCol w="2862072"/>
                <a:gridCol w="1325880"/>
                <a:gridCol w="1325880"/>
                <a:gridCol w="1325880"/>
                <a:gridCol w="1325880"/>
                <a:gridCol w="1325880"/>
                <a:gridCol w="132588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方法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L2-goal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PUCT16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L2-goal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Greedy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L3-goal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PUCT16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L3-goal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Greedy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C1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PUCT16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C1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Greedy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隨機 rollout 搜尋（無 Laya）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0.233 (0.34)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0.094 (0.13)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0.277 (0.32)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原始 Laya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0.128 (0.19)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0.061 (0.09)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0.052 (0.07)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0.031 (0.04)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0.140 (0.15)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0.003 (0.00)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Warm start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0.601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0.501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0.396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0.303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0.804 (1.00)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0.804 (1.00)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Teacher-only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0.613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0.579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0.413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0.371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0.804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0.804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Self-play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0.736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0.590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0.640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0.428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0.804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0.804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footnote"/>
          <p:cNvSpPr txBox="1"/>
          <p:nvPr/>
        </p:nvSpPr>
        <p:spPr>
          <a:xfrm>
            <a:off x="685800" y="525780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平均 reward（括號為成功率），100 局測試集。Warm start 為該關卡全部實驗平均；Teacher-only 與 Self-play 為 3 個 seed 平均。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6858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04  實驗結果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原始 Laya 無法直接使用，teacher 微調為最大躍升</a:t>
            </a:r>
            <a:endParaRPr lang="en-US" sz="3200" dirty="0"/>
          </a:p>
        </p:txBody>
      </p:sp>
      <p:sp>
        <p:nvSpPr>
          <p:cNvPr id="4" name="stat: 原始 Laya greedy 成功率（所有關卡）"/>
          <p:cNvSpPr txBox="1"/>
          <p:nvPr/>
        </p:nvSpPr>
        <p:spPr>
          <a:xfrm>
            <a:off x="685800" y="21031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&lt; 10%</a:t>
            </a:r>
            <a:endParaRPr lang="en-US" sz="4800" dirty="0"/>
          </a:p>
        </p:txBody>
      </p:sp>
      <p:sp>
        <p:nvSpPr>
          <p:cNvPr id="5" name="stat label: 原始 Laya greedy 成功率（所有關卡）"/>
          <p:cNvSpPr txBox="1"/>
          <p:nvPr/>
        </p:nvSpPr>
        <p:spPr>
          <a:xfrm>
            <a:off x="685800" y="299923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原始 Laya greedy 成功率（所有關卡）</a:t>
            </a:r>
            <a:endParaRPr lang="en-US" sz="1300" dirty="0"/>
          </a:p>
        </p:txBody>
      </p:sp>
      <p:sp>
        <p:nvSpPr>
          <p:cNvPr id="6" name="stat: L2-goal greedy：原始 → warm start"/>
          <p:cNvSpPr txBox="1"/>
          <p:nvPr/>
        </p:nvSpPr>
        <p:spPr>
          <a:xfrm>
            <a:off x="4343400" y="21031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0.06 → 0.50</a:t>
            </a:r>
            <a:endParaRPr lang="en-US" sz="4000" dirty="0"/>
          </a:p>
        </p:txBody>
      </p:sp>
      <p:sp>
        <p:nvSpPr>
          <p:cNvPr id="7" name="stat label: L2-goal greedy：原始 → warm start"/>
          <p:cNvSpPr txBox="1"/>
          <p:nvPr/>
        </p:nvSpPr>
        <p:spPr>
          <a:xfrm>
            <a:off x="4343400" y="299923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L2-goal greedy：原始 → warm start</a:t>
            </a:r>
            <a:endParaRPr lang="en-US" sz="1300" dirty="0"/>
          </a:p>
        </p:txBody>
      </p:sp>
      <p:sp>
        <p:nvSpPr>
          <p:cNvPr id="8" name="stat: L3-goal greedy：原始 → warm start"/>
          <p:cNvSpPr txBox="1"/>
          <p:nvPr/>
        </p:nvSpPr>
        <p:spPr>
          <a:xfrm>
            <a:off x="8001000" y="21031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0.03 → 0.30</a:t>
            </a:r>
            <a:endParaRPr lang="en-US" sz="4000" dirty="0"/>
          </a:p>
        </p:txBody>
      </p:sp>
      <p:sp>
        <p:nvSpPr>
          <p:cNvPr id="9" name="stat label: L3-goal greedy：原始 → warm start"/>
          <p:cNvSpPr txBox="1"/>
          <p:nvPr/>
        </p:nvSpPr>
        <p:spPr>
          <a:xfrm>
            <a:off x="8001000" y="299923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L3-goal greedy：原始 → warm start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206240"/>
            <a:ext cx="108200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原始 Laya 加搜尋在 L2-goal（0.128）仍低於隨機 rollout 搜尋（0.233）；L3-goal 近乎無效（0.052）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Laya 為通用決策模型，未見過 TextWorld 指令與任務格式，需任務微調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Teacher 示範資料使網路本身（greedy）的能力提升約一個數量級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6858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04  實驗結果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Self-play 帶來明確增益，任務越難增益越大</a:t>
            </a:r>
            <a:endParaRPr lang="en-US" sz="3200" dirty="0"/>
          </a:p>
        </p:txBody>
      </p:sp>
      <p:graphicFrame>
        <p:nvGraphicFramePr>
          <p:cNvPr id="4" name="selfplay gain chart" descr=""/>
          <p:cNvGraphicFramePr/>
          <p:nvPr/>
        </p:nvGraphicFramePr>
        <p:xfrm>
          <a:off x="685800" y="1600200"/>
          <a:ext cx="676656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001000" y="17830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Self-play − Teacher-only（成對差距）</a:t>
            </a:r>
            <a:endParaRPr lang="en-US" sz="1300" dirty="0"/>
          </a:p>
        </p:txBody>
      </p:sp>
      <p:sp>
        <p:nvSpPr>
          <p:cNvPr id="6" name="stat: L2-goal（± 0.05）"/>
          <p:cNvSpPr txBox="1"/>
          <p:nvPr/>
        </p:nvSpPr>
        <p:spPr>
          <a:xfrm>
            <a:off x="8001000" y="210312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+0.12</a:t>
            </a:r>
            <a:endParaRPr lang="en-US" sz="4800" dirty="0"/>
          </a:p>
        </p:txBody>
      </p:sp>
      <p:sp>
        <p:nvSpPr>
          <p:cNvPr id="7" name="stat label: L2-goal（± 0.05）"/>
          <p:cNvSpPr txBox="1"/>
          <p:nvPr/>
        </p:nvSpPr>
        <p:spPr>
          <a:xfrm>
            <a:off x="8001000" y="299923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L2-goal（± 0.05）</a:t>
            </a:r>
            <a:endParaRPr lang="en-US" sz="1300" dirty="0"/>
          </a:p>
        </p:txBody>
      </p:sp>
      <p:sp>
        <p:nvSpPr>
          <p:cNvPr id="8" name="stat: L3-goal（± 0.06）"/>
          <p:cNvSpPr txBox="1"/>
          <p:nvPr/>
        </p:nvSpPr>
        <p:spPr>
          <a:xfrm>
            <a:off x="8001000" y="36118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+0.22</a:t>
            </a:r>
            <a:endParaRPr lang="en-US" sz="4800" dirty="0"/>
          </a:p>
        </p:txBody>
      </p:sp>
      <p:sp>
        <p:nvSpPr>
          <p:cNvPr id="9" name="stat label: L3-goal（± 0.06）"/>
          <p:cNvSpPr txBox="1"/>
          <p:nvPr/>
        </p:nvSpPr>
        <p:spPr>
          <a:xfrm>
            <a:off x="8001000" y="450799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L3-goal（± 0.06）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516636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3 個 seed 皆為正；僅重複訓練 teacher 資料幾乎無增益。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6858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04  實驗結果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增益來源：價值網路使搜尋生效</a:t>
            </a:r>
            <a:endParaRPr lang="en-US" sz="3200" dirty="0"/>
          </a:p>
        </p:txBody>
      </p:sp>
      <p:graphicFrame>
        <p:nvGraphicFramePr>
          <p:cNvPr id="4" name="search gain chart" descr=""/>
          <p:cNvGraphicFramePr/>
          <p:nvPr/>
        </p:nvGraphicFramePr>
        <p:xfrm>
          <a:off x="685800" y="1600200"/>
          <a:ext cx="56692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903720" y="1783080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Teacher-only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903720" y="2194560"/>
            <a:ext cx="45994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Teacher 每局皆成功，所有 value 標籤皆為「會成功」；價值網路無法區分局面優劣，搜尋幾乎無增益。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903720" y="3429000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Self-play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903720" y="3840480"/>
            <a:ext cx="45994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引入失敗與繞路的真實結果，且位於搜尋實際到達的狀態；價值估計具鑑別力，搜尋增益擴大 4–5 倍。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903720" y="5120640"/>
            <a:ext cx="4599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Warm start → Self-play（L3-goal）：PUCT16 +0.24，Greedy +0.13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6858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04  實驗結果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料理關卡 C1：模仿即達最優</a:t>
            </a:r>
            <a:endParaRPr lang="en-US" sz="3200" dirty="0"/>
          </a:p>
        </p:txBody>
      </p:sp>
      <p:sp>
        <p:nvSpPr>
          <p:cNvPr id="4" name="stat: 成功率（所有方法、所有 seed）"/>
          <p:cNvSpPr txBox="1"/>
          <p:nvPr/>
        </p:nvSpPr>
        <p:spPr>
          <a:xfrm>
            <a:off x="685800" y="21031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100%</a:t>
            </a:r>
            <a:endParaRPr lang="en-US" sz="5400" dirty="0"/>
          </a:p>
        </p:txBody>
      </p:sp>
      <p:sp>
        <p:nvSpPr>
          <p:cNvPr id="5" name="stat label: 成功率（所有方法、所有 seed）"/>
          <p:cNvSpPr txBox="1"/>
          <p:nvPr/>
        </p:nvSpPr>
        <p:spPr>
          <a:xfrm>
            <a:off x="685800" y="299923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成功率（所有方法、所有 seed）</a:t>
            </a:r>
            <a:endParaRPr lang="en-US" sz="1300" dirty="0"/>
          </a:p>
        </p:txBody>
      </p:sp>
      <p:sp>
        <p:nvSpPr>
          <p:cNvPr id="6" name="stat: 平均步數，與 teacher 路線一致"/>
          <p:cNvSpPr txBox="1"/>
          <p:nvPr/>
        </p:nvSpPr>
        <p:spPr>
          <a:xfrm>
            <a:off x="4343400" y="21031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4.73</a:t>
            </a:r>
            <a:endParaRPr lang="en-US" sz="5400" dirty="0"/>
          </a:p>
        </p:txBody>
      </p:sp>
      <p:sp>
        <p:nvSpPr>
          <p:cNvPr id="7" name="stat label: 平均步數，與 teacher 路線一致"/>
          <p:cNvSpPr txBox="1"/>
          <p:nvPr/>
        </p:nvSpPr>
        <p:spPr>
          <a:xfrm>
            <a:off x="4343400" y="299923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平均步數，與 teacher 路線一致</a:t>
            </a:r>
            <a:endParaRPr lang="en-US" sz="1300" dirty="0"/>
          </a:p>
        </p:txBody>
      </p:sp>
      <p:sp>
        <p:nvSpPr>
          <p:cNvPr id="8" name="stat: reward = 0.5 + 0.5 · 0.9^4.73"/>
          <p:cNvSpPr txBox="1"/>
          <p:nvPr/>
        </p:nvSpPr>
        <p:spPr>
          <a:xfrm>
            <a:off x="8001000" y="21031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0.804</a:t>
            </a:r>
            <a:endParaRPr lang="en-US" sz="5400" dirty="0"/>
          </a:p>
        </p:txBody>
      </p:sp>
      <p:sp>
        <p:nvSpPr>
          <p:cNvPr id="9" name="stat label: reward = 0.5 + 0.5 · 0.9^4.73"/>
          <p:cNvSpPr txBox="1"/>
          <p:nvPr/>
        </p:nvSpPr>
        <p:spPr>
          <a:xfrm>
            <a:off x="8001000" y="299923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reward = 0.5 + 0.5 · 0.9^4.73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297680"/>
            <a:ext cx="108200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Warm start 後即完全複製 teacher 路線，Greedy 與 PUCT16 結果相同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任務步驟短（讀食譜、依序操作），模仿已可完全解決，不留 self-play 改進空間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6858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04  實驗結果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逐步指示關卡 L1、L2：warm start 已接近理論最佳</a:t>
            </a:r>
            <a:endParaRPr lang="en-US" sz="3200" dirty="0"/>
          </a:p>
        </p:txBody>
      </p:sp>
      <p:graphicFrame>
        <p:nvGraphicFramePr>
          <p:cNvPr id="2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45920"/>
          <a:ext cx="71323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71600"/>
                <a:gridCol w="1143000"/>
                <a:gridCol w="1371600"/>
                <a:gridCol w="11430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方法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L1 PUCT16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L1 Greedy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L2 PUCT16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L2 Greedy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隨機 rollout 搜尋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0.564 (0.70)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0.156 (0.21)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原始 Laya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0.446 (0.59)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0.254 (0.31)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0.117 (0.18)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0.042 (0.06)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Warm start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0.859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0.837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0.772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0.733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Teacher-only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0.857 ± 0.006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0.837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0.776 ± 0.002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0.753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Self-play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0.848 ± 0.014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0.829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0.780 ± 0.004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0.766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成對差距（SP − TO）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−0.009 ± 0.008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+0.004 ± 0.006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理論最佳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0.864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0.795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83880" y="1691640"/>
            <a:ext cx="331927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Warm start 後成功率 97–100%，距最佳僅 0.005（L1）與 0.02（L2）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Self-play 與 teacher-only 差異落於雜訊內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目標逐步列出，照做即最佳解，不需探索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搜尋增益亦小（0.01–0.02）</a:t>
            </a:r>
            <a:endParaRPr lang="en-US" sz="1400" dirty="0"/>
          </a:p>
        </p:txBody>
      </p:sp>
      <p:sp>
        <p:nvSpPr>
          <p:cNvPr id="6" name="footnote"/>
          <p:cNvSpPr txBox="1"/>
          <p:nvPr/>
        </p:nvSpPr>
        <p:spPr>
          <a:xfrm>
            <a:off x="685800" y="534924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100 局測試集，括號為成功率；SP − TO = Self-play − Teacher-only；理論最佳 = 全部以最短步數解出（L1 3 步、L2 5 步）。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6858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04  實驗結果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跨關卡：增益取決於模仿後的剩餘空間</a:t>
            </a:r>
            <a:endParaRPr lang="en-US" sz="3200" dirty="0"/>
          </a:p>
        </p:txBody>
      </p:sp>
      <p:graphicFrame>
        <p:nvGraphicFramePr>
          <p:cNvPr id="4" name="cross level chart" descr=""/>
          <p:cNvGraphicFramePr/>
          <p:nvPr/>
        </p:nvGraphicFramePr>
        <p:xfrm>
          <a:off x="685800" y="1600200"/>
          <a:ext cx="69494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092440" y="1783080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逐步指示 / 料理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092440" y="2194560"/>
            <a:ext cx="3410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L1、L2、C1：模仿即近最優，self-play 無增益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3291840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僅最終目標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3703320"/>
            <a:ext cx="3410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L2-goal、L3-goal：需自行探索，模仿留下空間，self-play 增益顯著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6858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05  結論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結論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828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8288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AlphaZero 式迴圈可於文字任務運作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26771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探索型關卡上 self-play 帶來穩定增益：L2-goal +0.12、L3-goal +0.22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108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2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310896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增益主要來自價值網路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354787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Self-play 提供真實結果，L3-goal 搜尋增益由 +0.04 提升至 +0.21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389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3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43891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模仿已達最優時無改進空間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482803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L1、L2、C1 中 self-play 與 teacher-only 無差異</a:t>
            </a:r>
            <a:endParaRPr lang="en-US" sz="1400" dirty="0"/>
          </a:p>
        </p:txBody>
      </p:sp>
      <p:sp>
        <p:nvSpPr>
          <p:cNvPr id="13" name="limits bg"/>
          <p:cNvSpPr/>
          <p:nvPr/>
        </p:nvSpPr>
        <p:spPr>
          <a:xfrm>
            <a:off x="8138160" y="1691640"/>
            <a:ext cx="3364992" cy="4069080"/>
          </a:xfrm>
          <a:prstGeom prst="roundRect">
            <a:avLst>
              <a:gd name="adj" fmla="val 2174"/>
            </a:avLst>
          </a:prstGeom>
          <a:solidFill>
            <a:schemeClr val="bg2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0" y="1874520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限制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2286000"/>
            <a:ext cx="28163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Self-play 於 1–2 輪後趨於飽和（L3-goal 約 70% 增益發生於第 1 輪）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驗證集僅 40 局，gate 決策受雜訊影響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3794760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後續方向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4206240"/>
            <a:ext cx="28163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評估時增加模擬次數，檢驗搜尋擴展性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更難任務：C2、ALFWorld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 txBox="1"/>
          <p:nvPr/>
        </p:nvSpPr>
        <p:spPr>
          <a:xfrm>
            <a:off x="685800" y="2286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A</a:t>
            </a:r>
            <a:endParaRPr lang="en-US" sz="4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306324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附錄</a:t>
            </a:r>
            <a:endParaRPr lang="en-US" sz="4000" dirty="0"/>
          </a:p>
        </p:txBody>
      </p:sp>
      <p:sp>
        <p:nvSpPr>
          <p:cNvPr id="4" name="section subtitle"/>
          <p:cNvSpPr txBox="1"/>
          <p:nvPr/>
        </p:nvSpPr>
        <p:spPr>
          <a:xfrm>
            <a:off x="685800" y="393192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管線驗證：Countdown 與一元一次方程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6858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附錄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管線驗證：任務與設定</a:t>
            </a:r>
            <a:endParaRPr lang="en-US" sz="3200" dirty="0"/>
          </a:p>
        </p:txBody>
      </p:sp>
      <p:sp>
        <p:nvSpPr>
          <p:cNvPr id="4" name="card Countdown"/>
          <p:cNvSpPr/>
          <p:nvPr/>
        </p:nvSpPr>
        <p:spPr>
          <a:xfrm>
            <a:off x="685800" y="1691640"/>
            <a:ext cx="51206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Countdown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7744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以四則運算組合給定數字，湊出目標數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Reward：是否成功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Teacher：窮舉搜尋</a:t>
            </a:r>
            <a:endParaRPr lang="en-US" sz="1400" dirty="0"/>
          </a:p>
        </p:txBody>
      </p:sp>
      <p:sp>
        <p:nvSpPr>
          <p:cNvPr id="7" name="card 一元一次方程"/>
          <p:cNvSpPr/>
          <p:nvPr/>
        </p:nvSpPr>
        <p:spPr>
          <a:xfrm>
            <a:off x="6385255" y="1691640"/>
            <a:ext cx="51206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59575" y="1874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一元一次方程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659575" y="237744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逐步選擇代數改寫，化簡至 x = c；以 SymPy 驗證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Reward：0.5 + 0.5 · 0.9ⁿ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Teacher：廣度優先搜尋（最短步數）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設定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4114800"/>
            <a:ext cx="9692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CPU 縮小規模：評估 30 題、self-play 每輪 16 局；差距 &lt; 0.05 視為雜訊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模型：Laya（laya-multilingual）與隨機初始化的微型模型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里程碑：PUCT16 reward 隨迭代上升；優於 greedy；優於同預算的均勻先驗搜尋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6858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附錄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管線驗證：結果</a:t>
            </a:r>
            <a:endParaRPr lang="en-US" sz="3200" dirty="0"/>
          </a:p>
        </p:txBody>
      </p:sp>
      <p:graphicFrame>
        <p:nvGraphicFramePr>
          <p:cNvPr id="2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45920"/>
          <a:ext cx="1082009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097280"/>
                <a:gridCol w="2560320"/>
                <a:gridCol w="2606040"/>
                <a:gridCol w="1554480"/>
                <a:gridCol w="1447495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任務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模型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起點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PUCT16（初始 → 最終）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Greedy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均勻先驗搜尋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Countdown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Laya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teacher 150 題 + 1 輪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0.17 → 0.83 → 0.93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0.70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0.30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代數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Laya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teacher 150 題 + 4 輪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0.35 → 0.776 → 0.777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0.776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0.727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代數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Laya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無 teacher，4 輪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0.35 → 0.68 → 0.71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0.02 → 0.71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0.727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代數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微型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無 teacher，8 輪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0.07 → 0.54 → 0.74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0.00 → 0.61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0.730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代數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微型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teacher 150 題 + 6 輪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0.73 → 0.75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0.60 → 0.72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0.730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代數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微型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teacher 1000 題 + 6 輪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0.769 → 0.772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0.776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0.730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Countdown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微型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teacher 1000 題 + 6 輪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0.22 → 0.37 → 0.35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0.15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0.30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footnote"/>
          <p:cNvSpPr txBox="1"/>
          <p:nvPr/>
        </p:nvSpPr>
        <p:spPr>
          <a:xfrm>
            <a:off x="685800" y="544068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Countdown 的 reward 為成功率；代數理論最優約 0.777（平均 5.6 步）。中間值為 warm start 或第 1 輪後的結果。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6858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附錄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管線驗證：觀察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預訓練的效益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860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0.83 vs 0.37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2461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Countdown：Laya 以 150 題 teacher 資料達 0.83；微型模型以 1000 題僅 0.37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17830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無 teacher 亦可學習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22860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0.00 → 0.61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32461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代數微型模型 greedy；PUCT16 0.07 → 0.74，超越均勻先驗搜尋（0.730）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001000" y="17830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搜尋效益取決於價值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001000" y="22860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0.29 → 0.93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8001000" y="32461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Countdown 改用 oracle 價值，同一搜尋成功率由 0.29 升至 0.80–0.93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846320"/>
            <a:ext cx="108200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Reward 下限 0.5 的設計源於此階段：僅用 0.9ⁿ 時，價值網路傾向拖延至步數用盡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價值網路較弱時，PUCT 比 Gumbel AlphaZero 穩定，後續實驗皆採 PUCT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ya MCTS Minimal">
  <a:themeElements>
    <a:clrScheme name="Laya MCTS Minimal">
      <a:dk1>
        <a:srgbClr val="1A1A1A"/>
      </a:dk1>
      <a:lt1>
        <a:srgbClr val="FFFFFF"/>
      </a:lt1>
      <a:dk2>
        <a:srgbClr val="6B7280"/>
      </a:dk2>
      <a:lt2>
        <a:srgbClr val="F3F4F6"/>
      </a:lt2>
      <a:accent1>
        <a:srgbClr val="0F766E"/>
      </a:accent1>
      <a:accent2>
        <a:srgbClr val="9CA3AF"/>
      </a:accent2>
      <a:accent3>
        <a:srgbClr val="D1D5DB"/>
      </a:accent3>
      <a:accent4>
        <a:srgbClr val="4B5563"/>
      </a:accent4>
      <a:accent5>
        <a:srgbClr val="99C9C4"/>
      </a:accent5>
      <a:accent6>
        <a:srgbClr val="374151"/>
      </a:accent6>
      <a:hlink>
        <a:srgbClr val="0F766E"/>
      </a:hlink>
      <a:folHlink>
        <a:srgbClr val="6B7280"/>
      </a:folHlink>
    </a:clrScheme>
    <a:fontScheme name="Laya MCTS Minimal">
      <a:majorFont>
        <a:latin typeface="Calibri"/>
        <a:ea typeface="Microsoft JhengHei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Microsoft JhengHei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Laya + MCTS：架構與實驗結果</dc:title>
  <dc:subject>PptxGenJS Presentation</dc:subject>
  <dc:creator>PptxGenJS</dc:creator>
  <cp:lastModifiedBy>PptxGenJS</cp:lastModifiedBy>
  <cp:revision>1</cp:revision>
  <dcterms:created xsi:type="dcterms:W3CDTF">2026-10-08T04:10:29Z</dcterms:created>
  <dcterms:modified xsi:type="dcterms:W3CDTF">2026-10-08T04:10:29Z</dcterms:modified>
</cp:coreProperties>
</file>