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概述" id="{1e192201-ae95-0252-90bf-e6e381bfcdbd}">
          <p14:sldIdLst>
            <p14:sldId id="257"/>
          </p14:sldIdLst>
        </p14:section>
        <p14:section name="方法" id="{1c2d9176-19c1-5fd2-e677-8a563864f04c}">
          <p14:sldIdLst>
            <p14:sldId id="258"/>
            <p14:sldId id="259"/>
            <p14:sldId id="260"/>
          </p14:sldIdLst>
        </p14:section>
        <p14:section name="實驗設置" id="{b7241344-6218-41e3-39d8-cee992e1d0cb}">
          <p14:sldIdLst>
            <p14:sldId id="261"/>
            <p14:sldId id="262"/>
          </p14:sldIdLst>
        </p14:section>
        <p14:section name="實驗結果" id="{1e86b7c9-ce1f-215c-ff17-d04670a2d852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結論" id="{59c5ca0a-07a3-9569-31b3-7cbf81874bee}">
          <p14:sldIdLst>
            <p14:sldId id="271"/>
          </p14:sldIdLst>
        </p14:section>
        <p14:section name="附錄" id="{17530d26-9675-64e7-7a91-92e048a502c3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0.5 + 0.5·0.9ⁿ（採用）</c:v>
                </c:pt>
              </c:strCache>
            </c:strRef>
          </c:tx>
          <c:spPr>
            <a:solidFill>
              <a:srgbClr val="0F766E"/>
            </a:solidFill>
            <a:ln w="28575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1</c:v>
                </c:pt>
                <c:pt idx="1">
                  <c:v>0.95</c:v>
                </c:pt>
                <c:pt idx="2">
                  <c:v>0.905</c:v>
                </c:pt>
                <c:pt idx="3">
                  <c:v>0.8645</c:v>
                </c:pt>
                <c:pt idx="4">
                  <c:v>0.8281</c:v>
                </c:pt>
                <c:pt idx="5">
                  <c:v>0.7952</c:v>
                </c:pt>
                <c:pt idx="6">
                  <c:v>0.7657</c:v>
                </c:pt>
                <c:pt idx="7">
                  <c:v>0.7391</c:v>
                </c:pt>
                <c:pt idx="8">
                  <c:v>0.7152</c:v>
                </c:pt>
                <c:pt idx="9">
                  <c:v>0.6937</c:v>
                </c:pt>
                <c:pt idx="10">
                  <c:v>0.6743</c:v>
                </c:pt>
                <c:pt idx="11">
                  <c:v>0.6569</c:v>
                </c:pt>
                <c:pt idx="12">
                  <c:v>0.6412</c:v>
                </c:pt>
                <c:pt idx="13">
                  <c:v>0.6271</c:v>
                </c:pt>
                <c:pt idx="14">
                  <c:v>0.6144</c:v>
                </c:pt>
                <c:pt idx="15">
                  <c:v>0.6029</c:v>
                </c:pt>
                <c:pt idx="16">
                  <c:v>0.5927</c:v>
                </c:pt>
                <c:pt idx="17">
                  <c:v>0.5834</c:v>
                </c:pt>
                <c:pt idx="18">
                  <c:v>0.575</c:v>
                </c:pt>
                <c:pt idx="19">
                  <c:v>0.5675</c:v>
                </c:pt>
                <c:pt idx="20">
                  <c:v>0.5608</c:v>
                </c:pt>
                <c:pt idx="21">
                  <c:v>0.5547</c:v>
                </c:pt>
                <c:pt idx="22">
                  <c:v>0.5492</c:v>
                </c:pt>
                <c:pt idx="23">
                  <c:v>0.5443</c:v>
                </c:pt>
                <c:pt idx="24">
                  <c:v>0.5399</c:v>
                </c:pt>
                <c:pt idx="25">
                  <c:v>0.5359</c:v>
                </c:pt>
                <c:pt idx="26">
                  <c:v>0.5323</c:v>
                </c:pt>
                <c:pt idx="27">
                  <c:v>0.5291</c:v>
                </c:pt>
                <c:pt idx="28">
                  <c:v>0.5262</c:v>
                </c:pt>
                <c:pt idx="29">
                  <c:v>0.5236</c:v>
                </c:pt>
                <c:pt idx="30">
                  <c:v>0.5212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0.9ⁿ</c:v>
                </c:pt>
              </c:strCache>
            </c:strRef>
          </c:tx>
          <c:spPr>
            <a:solidFill>
              <a:srgbClr val="9CA3AF"/>
            </a:solidFill>
            <a:ln w="2857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5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15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30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</c:v>
                </c:pt>
                <c:pt idx="1">
                  <c:v>0.9</c:v>
                </c:pt>
                <c:pt idx="2">
                  <c:v>0.81</c:v>
                </c:pt>
                <c:pt idx="3">
                  <c:v>0.729</c:v>
                </c:pt>
                <c:pt idx="4">
                  <c:v>0.6561</c:v>
                </c:pt>
                <c:pt idx="5">
                  <c:v>0.5905</c:v>
                </c:pt>
                <c:pt idx="6">
                  <c:v>0.5314</c:v>
                </c:pt>
                <c:pt idx="7">
                  <c:v>0.4783</c:v>
                </c:pt>
                <c:pt idx="8">
                  <c:v>0.4305</c:v>
                </c:pt>
                <c:pt idx="9">
                  <c:v>0.3874</c:v>
                </c:pt>
                <c:pt idx="10">
                  <c:v>0.3487</c:v>
                </c:pt>
                <c:pt idx="11">
                  <c:v>0.3138</c:v>
                </c:pt>
                <c:pt idx="12">
                  <c:v>0.2824</c:v>
                </c:pt>
                <c:pt idx="13">
                  <c:v>0.2542</c:v>
                </c:pt>
                <c:pt idx="14">
                  <c:v>0.2288</c:v>
                </c:pt>
                <c:pt idx="15">
                  <c:v>0.2059</c:v>
                </c:pt>
                <c:pt idx="16">
                  <c:v>0.1853</c:v>
                </c:pt>
                <c:pt idx="17">
                  <c:v>0.1668</c:v>
                </c:pt>
                <c:pt idx="18">
                  <c:v>0.1501</c:v>
                </c:pt>
                <c:pt idx="19">
                  <c:v>0.1351</c:v>
                </c:pt>
                <c:pt idx="20">
                  <c:v>0.1216</c:v>
                </c:pt>
                <c:pt idx="21">
                  <c:v>0.1094</c:v>
                </c:pt>
                <c:pt idx="22">
                  <c:v>0.0985</c:v>
                </c:pt>
                <c:pt idx="23">
                  <c:v>0.0886</c:v>
                </c:pt>
                <c:pt idx="24">
                  <c:v>0.0798</c:v>
                </c:pt>
                <c:pt idx="25">
                  <c:v>0.0718</c:v>
                </c:pt>
                <c:pt idx="26">
                  <c:v>0.0646</c:v>
                </c:pt>
                <c:pt idx="27">
                  <c:v>0.0581</c:v>
                </c:pt>
                <c:pt idx="28">
                  <c:v>0.0523</c:v>
                </c:pt>
                <c:pt idx="29">
                  <c:v>0.0471</c:v>
                </c:pt>
                <c:pt idx="30">
                  <c:v>0.0424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280"/>
                    </a:solidFill>
                    <a:latin typeface="Arial"/>
                  </a:rPr>
                  <a:t>步數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+mn-lt"/>
              </a:rPr>
              <a:t>PUCT16 reward（100 局測試集）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原始 Laya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0.128</c:v>
                </c:pt>
                <c:pt idx="1">
                  <c:v>0.052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Warm start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0.601</c:v>
                </c:pt>
                <c:pt idx="1">
                  <c:v>0.396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Teacher-only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0.613</c:v>
                </c:pt>
                <c:pt idx="1">
                  <c:v>0.413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Self-play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0.736</c:v>
                </c:pt>
                <c:pt idx="1">
                  <c:v>0.64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6B7280"/>
                </a:solidFill>
                <a:latin typeface="+mn-lt"/>
              </a:rPr>
              <a:t>搜尋增益：PUCT16 − Greedy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Teacher-only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0.034</c:v>
                </c:pt>
                <c:pt idx="1">
                  <c:v>0.042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Self-play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+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L2-goal</c:v>
                  </c:pt>
                  <c:pt idx="1">
                    <c:v>L3-goal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0.146</c:v>
                </c:pt>
                <c:pt idx="1">
                  <c:v>0.212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b="0" i="0" strike="noStrike" sz="11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Warm start 後距最佳（約）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L1</c:v>
                  </c:pt>
                  <c:pt idx="1">
                    <c:v>L2</c:v>
                  </c:pt>
                  <c:pt idx="2">
                    <c:v>C1</c:v>
                  </c:pt>
                  <c:pt idx="3">
                    <c:v>L2-goal</c:v>
                  </c:pt>
                  <c:pt idx="4">
                    <c:v>L3-goal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0.005</c:v>
                </c:pt>
                <c:pt idx="1">
                  <c:v>0.02</c:v>
                </c:pt>
                <c:pt idx="2">
                  <c:v>0</c:v>
                </c:pt>
                <c:pt idx="3">
                  <c:v>0.14</c:v>
                </c:pt>
                <c:pt idx="4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Self-play − Teacher-only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B556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L1</c:v>
                  </c:pt>
                  <c:pt idx="1">
                    <c:v>L2</c:v>
                  </c:pt>
                  <c:pt idx="2">
                    <c:v>C1</c:v>
                  </c:pt>
                  <c:pt idx="3">
                    <c:v>L2-goal</c:v>
                  </c:pt>
                  <c:pt idx="4">
                    <c:v>L3-goal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-0.009</c:v>
                </c:pt>
                <c:pt idx="1">
                  <c:v>0.004</c:v>
                </c:pt>
                <c:pt idx="2">
                  <c:v>0</c:v>
                </c:pt>
                <c:pt idx="3">
                  <c:v>0.123</c:v>
                </c:pt>
                <c:pt idx="4">
                  <c:v>0.227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4B556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5D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-0.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03120"/>
            <a:ext cx="1082009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0312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Laya + MCTS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685800" y="32461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以 AlphaZero 式自我對弈強化文字決策模型</a:t>
            </a:r>
            <a:endParaRPr lang="en-US" sz="2400" dirty="0"/>
          </a:p>
        </p:txBody>
      </p:sp>
      <p:sp>
        <p:nvSpPr>
          <p:cNvPr id="4" name="meta"/>
          <p:cNvSpPr txBox="1"/>
          <p:nvPr/>
        </p:nvSpPr>
        <p:spPr>
          <a:xfrm>
            <a:off x="685800" y="56692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架構與實驗結果　｜　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概述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架構：AlphaZero × Laya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網路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Laya（非自回歸決策模型，644 MB）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219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一次前向計算輸出各選項機率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搜尋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PUCT MCTS，16 次模擬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4107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根節點拜訪分佈為決策與 policy 目標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訓練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Teacher 示範 warm start + Self-play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45994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搜尋分佈與對局 reward 為訓練目標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440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狀態以文字表示；同一狀態產生兩個 Laya 問題。</a:t>
            </a:r>
            <a:endParaRPr lang="en-US" sz="1300" dirty="0"/>
          </a:p>
        </p:txBody>
      </p:sp>
      <p:sp>
        <p:nvSpPr>
          <p:cNvPr id="14" name="box: 狀態文字"/>
          <p:cNvSpPr/>
          <p:nvPr/>
        </p:nvSpPr>
        <p:spPr>
          <a:xfrm>
            <a:off x="5623560" y="2514600"/>
            <a:ext cx="17830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label: 狀態文字"/>
          <p:cNvSpPr txBox="1"/>
          <p:nvPr/>
        </p:nvSpPr>
        <p:spPr>
          <a:xfrm>
            <a:off x="5715000" y="25146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狀態文字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目標・位置・物品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tx2"/>
                </a:solidFill>
              </a:rPr>
              <a:t>近期動作・剩餘步數</a:t>
            </a:r>
            <a:endParaRPr lang="en-US" sz="1500" dirty="0"/>
          </a:p>
        </p:txBody>
      </p:sp>
      <p:sp>
        <p:nvSpPr>
          <p:cNvPr id="16" name="policy box"/>
          <p:cNvSpPr/>
          <p:nvPr/>
        </p:nvSpPr>
        <p:spPr>
          <a:xfrm>
            <a:off x="7955280" y="178308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policy text"/>
          <p:cNvSpPr txBox="1"/>
          <p:nvPr/>
        </p:nvSpPr>
        <p:spPr>
          <a:xfrm>
            <a:off x="8138160" y="1783080"/>
            <a:ext cx="31821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Policy　choice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Which command brings you closest to completing the goal?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A. go east　B. open toolbox　C. …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→ 先驗 P(a)</a:t>
            </a:r>
            <a:endParaRPr lang="en-US" sz="1400" dirty="0"/>
          </a:p>
        </p:txBody>
      </p:sp>
      <p:sp>
        <p:nvSpPr>
          <p:cNvPr id="18" name="value box"/>
          <p:cNvSpPr/>
          <p:nvPr/>
        </p:nvSpPr>
        <p:spPr>
          <a:xfrm>
            <a:off x="7955280" y="3657600"/>
            <a:ext cx="3547872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value text"/>
          <p:cNvSpPr txBox="1"/>
          <p:nvPr/>
        </p:nvSpPr>
        <p:spPr>
          <a:xfrm>
            <a:off x="8138160" y="3657600"/>
            <a:ext cx="31821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Value　noul（是 / 否）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chemeClr val="tx1"/>
                </a:solidFill>
              </a:rPr>
              <a:t>Will the goal be completed within the remaining steps?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→ V = 2·P(是) − 1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 flipV="1">
            <a:off x="7406640" y="2633472"/>
            <a:ext cx="548640" cy="33832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arrow"/>
          <p:cNvSpPr/>
          <p:nvPr/>
        </p:nvSpPr>
        <p:spPr>
          <a:xfrm>
            <a:off x="7406640" y="3246120"/>
            <a:ext cx="548640" cy="1252728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方法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整體迴圈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初始化</a:t>
            </a:r>
            <a:endParaRPr lang="en-US" sz="1200" dirty="0"/>
          </a:p>
        </p:txBody>
      </p:sp>
      <p:sp>
        <p:nvSpPr>
          <p:cNvPr id="5" name="box: 原始 Laya 評估"/>
          <p:cNvSpPr/>
          <p:nvPr/>
        </p:nvSpPr>
        <p:spPr>
          <a:xfrm>
            <a:off x="68580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label: 原始 Laya 評估"/>
          <p:cNvSpPr txBox="1"/>
          <p:nvPr/>
        </p:nvSpPr>
        <p:spPr>
          <a:xfrm>
            <a:off x="77724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原始 Laya 評估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未經任務微調</a:t>
            </a:r>
            <a:endParaRPr lang="en-US" sz="1600" dirty="0"/>
          </a:p>
        </p:txBody>
      </p:sp>
      <p:sp>
        <p:nvSpPr>
          <p:cNvPr id="7" name="box: Teacher 示範"/>
          <p:cNvSpPr/>
          <p:nvPr/>
        </p:nvSpPr>
        <p:spPr>
          <a:xfrm>
            <a:off x="352044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label: Teacher 示範"/>
          <p:cNvSpPr txBox="1"/>
          <p:nvPr/>
        </p:nvSpPr>
        <p:spPr>
          <a:xfrm>
            <a:off x="361188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Teacher 示範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最佳解題器產生資料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3017520" y="2811780"/>
            <a:ext cx="50292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box: Warm start"/>
          <p:cNvSpPr/>
          <p:nvPr/>
        </p:nvSpPr>
        <p:spPr>
          <a:xfrm>
            <a:off x="635508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label: Warm start"/>
          <p:cNvSpPr txBox="1"/>
          <p:nvPr/>
        </p:nvSpPr>
        <p:spPr>
          <a:xfrm>
            <a:off x="644652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Warm start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以示範資料訓練 Laya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5852160" y="2811780"/>
            <a:ext cx="50292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3" name="box: 初始評分"/>
          <p:cNvSpPr/>
          <p:nvPr/>
        </p:nvSpPr>
        <p:spPr>
          <a:xfrm>
            <a:off x="9189720" y="2286000"/>
            <a:ext cx="23317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label: 初始評分"/>
          <p:cNvSpPr txBox="1"/>
          <p:nvPr/>
        </p:nvSpPr>
        <p:spPr>
          <a:xfrm>
            <a:off x="9281160" y="22860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初始評分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設定 gate 參考分數</a:t>
            </a:r>
            <a:endParaRPr lang="en-US" sz="1600" dirty="0"/>
          </a:p>
        </p:txBody>
      </p:sp>
      <p:sp>
        <p:nvSpPr>
          <p:cNvPr id="15" name="arrow"/>
          <p:cNvSpPr/>
          <p:nvPr/>
        </p:nvSpPr>
        <p:spPr>
          <a:xfrm>
            <a:off x="8686800" y="2811780"/>
            <a:ext cx="50292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73736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迭代（8 輪）</a:t>
            </a:r>
            <a:endParaRPr lang="en-US" sz="1200" dirty="0"/>
          </a:p>
        </p:txBody>
      </p:sp>
      <p:sp>
        <p:nvSpPr>
          <p:cNvPr id="17" name="box: Self-play"/>
          <p:cNvSpPr/>
          <p:nvPr/>
        </p:nvSpPr>
        <p:spPr>
          <a:xfrm>
            <a:off x="68580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8" name="label: Self-play"/>
          <p:cNvSpPr txBox="1"/>
          <p:nvPr/>
        </p:nvSpPr>
        <p:spPr>
          <a:xfrm>
            <a:off x="77724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Self-play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Laya + MCTS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每輪 64 局</a:t>
            </a:r>
            <a:endParaRPr lang="en-US" sz="1600" dirty="0"/>
          </a:p>
        </p:txBody>
      </p:sp>
      <p:sp>
        <p:nvSpPr>
          <p:cNvPr id="19" name="box: 訓練樣本"/>
          <p:cNvSpPr/>
          <p:nvPr/>
        </p:nvSpPr>
        <p:spPr>
          <a:xfrm>
            <a:off x="292608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0" name="label: 訓練樣本"/>
          <p:cNvSpPr txBox="1"/>
          <p:nvPr/>
        </p:nvSpPr>
        <p:spPr>
          <a:xfrm>
            <a:off x="301752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訓練樣本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policy：搜尋分佈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value：對局 reward</a:t>
            </a:r>
            <a:endParaRPr lang="en-US" sz="1600" dirty="0"/>
          </a:p>
        </p:txBody>
      </p:sp>
      <p:sp>
        <p:nvSpPr>
          <p:cNvPr id="21" name="arrow"/>
          <p:cNvSpPr/>
          <p:nvPr/>
        </p:nvSpPr>
        <p:spPr>
          <a:xfrm>
            <a:off x="251460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2" name="box: 訓練"/>
          <p:cNvSpPr/>
          <p:nvPr/>
        </p:nvSpPr>
        <p:spPr>
          <a:xfrm>
            <a:off x="516636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3" name="label: 訓練"/>
          <p:cNvSpPr txBox="1"/>
          <p:nvPr/>
        </p:nvSpPr>
        <p:spPr>
          <a:xfrm>
            <a:off x="525780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訓練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replay buffer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 epoch・溫度校準</a:t>
            </a:r>
            <a:endParaRPr lang="en-US" sz="1600" dirty="0"/>
          </a:p>
        </p:txBody>
      </p:sp>
      <p:sp>
        <p:nvSpPr>
          <p:cNvPr id="24" name="arrow"/>
          <p:cNvSpPr/>
          <p:nvPr/>
        </p:nvSpPr>
        <p:spPr>
          <a:xfrm>
            <a:off x="475488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5" name="box: Gate"/>
          <p:cNvSpPr/>
          <p:nvPr/>
        </p:nvSpPr>
        <p:spPr>
          <a:xfrm>
            <a:off x="740664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6" name="label: Gate"/>
          <p:cNvSpPr txBox="1"/>
          <p:nvPr/>
        </p:nvSpPr>
        <p:spPr>
          <a:xfrm>
            <a:off x="749808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Gate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驗證集評分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退步則還原</a:t>
            </a:r>
            <a:endParaRPr lang="en-US" sz="1600" dirty="0"/>
          </a:p>
        </p:txBody>
      </p:sp>
      <p:sp>
        <p:nvSpPr>
          <p:cNvPr id="27" name="arrow"/>
          <p:cNvSpPr/>
          <p:nvPr/>
        </p:nvSpPr>
        <p:spPr>
          <a:xfrm>
            <a:off x="699516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8" name="box: 測試評估"/>
          <p:cNvSpPr/>
          <p:nvPr/>
        </p:nvSpPr>
        <p:spPr>
          <a:xfrm>
            <a:off x="9646920" y="4251960"/>
            <a:ext cx="18288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29" name="label: 測試評估"/>
          <p:cNvSpPr txBox="1"/>
          <p:nvPr/>
        </p:nvSpPr>
        <p:spPr>
          <a:xfrm>
            <a:off x="9738360" y="4251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測試評估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保留權重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100 局測試集</a:t>
            </a:r>
            <a:endParaRPr lang="en-US" sz="1600" dirty="0"/>
          </a:p>
        </p:txBody>
      </p:sp>
      <p:sp>
        <p:nvSpPr>
          <p:cNvPr id="30" name="arrow"/>
          <p:cNvSpPr/>
          <p:nvPr/>
        </p:nvSpPr>
        <p:spPr>
          <a:xfrm>
            <a:off x="9235440" y="4846320"/>
            <a:ext cx="41148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>
            <a:off x="10561320" y="5440680"/>
            <a:ext cx="0" cy="41148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32" name="arrow"/>
          <p:cNvSpPr/>
          <p:nvPr/>
        </p:nvSpPr>
        <p:spPr>
          <a:xfrm flipH="1">
            <a:off x="1600200" y="5852160"/>
            <a:ext cx="896112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33" name="arrow"/>
          <p:cNvSpPr/>
          <p:nvPr/>
        </p:nvSpPr>
        <p:spPr>
          <a:xfrm flipV="1">
            <a:off x="1600200" y="5440680"/>
            <a:ext cx="0" cy="41148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532120" y="59070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下一輪</a:t>
            </a:r>
            <a:endParaRPr lang="en-US" sz="1100" dirty="0"/>
          </a:p>
        </p:txBody>
      </p:sp>
      <p:sp>
        <p:nvSpPr>
          <p:cNvPr id="35" name="arrow"/>
          <p:cNvSpPr/>
          <p:nvPr/>
        </p:nvSpPr>
        <p:spPr>
          <a:xfrm>
            <a:off x="10355580" y="3337560"/>
            <a:ext cx="0" cy="36576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36" name="arrow"/>
          <p:cNvSpPr/>
          <p:nvPr/>
        </p:nvSpPr>
        <p:spPr>
          <a:xfrm flipH="1">
            <a:off x="1600200" y="3703320"/>
            <a:ext cx="8755380" cy="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</a:ln>
        </p:spPr>
      </p:sp>
      <p:sp>
        <p:nvSpPr>
          <p:cNvPr id="37" name="arrow"/>
          <p:cNvSpPr/>
          <p:nvPr/>
        </p:nvSpPr>
        <p:spPr>
          <a:xfrm>
            <a:off x="1600200" y="3703320"/>
            <a:ext cx="0" cy="548640"/>
          </a:xfrm>
          <a:prstGeom prst="line">
            <a:avLst/>
          </a:prstGeom>
          <a:noFill/>
          <a:ln w="15875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方法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Reward 設計</a:t>
            </a:r>
            <a:endParaRPr lang="en-US" sz="3200" dirty="0"/>
          </a:p>
        </p:txBody>
      </p:sp>
      <p:sp>
        <p:nvSpPr>
          <p:cNvPr id="4" name="reward formula"/>
          <p:cNvSpPr txBox="1"/>
          <p:nvPr/>
        </p:nvSpPr>
        <p:spPr>
          <a:xfrm>
            <a:off x="685800" y="1691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0.5 + 0.5 · 0.9</a:t>
            </a:r>
            <a:r>
              <a:rPr lang="en-US" sz="3000" baseline="30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成功時；n 為步數。失敗時 R = 0。value 目標映射至 [−1, 1]。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下限 0.5：</a:t>
            </a:r>
            <a:r>
              <a:rPr lang="en-US" sz="1500" dirty="0">
                <a:solidFill>
                  <a:schemeClr val="tx1"/>
                </a:solidFill>
              </a:rPr>
              <a:t>成功恆明顯優於失敗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隨步數衰減：</a:t>
            </a:r>
            <a:r>
              <a:rPr lang="en-US" sz="1500" dirty="0">
                <a:solidFill>
                  <a:schemeClr val="tx1"/>
                </a:solidFill>
              </a:rPr>
              <a:t>鼓勵以較少步數完成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僅用 0.9ⁿ 的問題：</a:t>
            </a:r>
            <a:r>
              <a:rPr lang="en-US" sz="1500" dirty="0">
                <a:solidFill>
                  <a:schemeClr val="tx1"/>
                </a:solidFill>
              </a:rPr>
              <a:t>步數多時趨近 0，與失敗難以區分，價值網路傾向拖延</a:t>
            </a:r>
            <a:endParaRPr lang="en-US" sz="15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983480"/>
          <a:ext cx="4846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9144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步數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reward chart" descr=""/>
          <p:cNvGraphicFramePr/>
          <p:nvPr/>
        </p:nvGraphicFramePr>
        <p:xfrm>
          <a:off x="603504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方法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Self-play 與 Gate</a:t>
            </a:r>
            <a:endParaRPr lang="en-US" sz="32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200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419295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設計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理由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Policy 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根節點拜訪分佈，銳化（溫度 0.25）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 次模擬的分佈過平，避免稀釋既有偏好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Value 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該局最終 reward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包含失敗與繞路的真實結果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失敗局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僅訓練 value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不模仿失敗的走法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Replay buffer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全部 teacher + 全部 self-play 資料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每輪以整個 buffer 訓練 1 epoch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Gate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驗證集評分；低於歷史最佳逾 0.02 即還原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僅保留不退步的權重（借自 AlphaGo Zero）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資料切分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train 150 / val 40 / test 100 局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驗證集決定保留，測試集僅評估保留權重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685800" y="58064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每輪 self-play 64 局；Dirichlet 雜訊（α = 0.3，25%）僅加於 self-play 的根節點先驗。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實驗設置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任務：TextWorld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微軟的文字冒險遊戲產生器；可控制房間數、物件數與任務步數，並自動判定成敗。</a:t>
            </a:r>
            <a:endParaRPr lang="en-US" sz="16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1082009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645920"/>
                <a:gridCol w="3291840"/>
                <a:gridCol w="167609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關卡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房間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物件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任務步數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目標描述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步數上限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逐步指示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逐步指示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L2-goal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僅最終目標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L3-goal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僅最終目標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C1（料理）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 種食材；讀食譜後依序操作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51206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逐步指示：</a:t>
            </a:r>
            <a:r>
              <a:rPr lang="en-US" sz="1500" dirty="0">
                <a:solidFill>
                  <a:schemeClr val="tx1"/>
                </a:solidFill>
              </a:rPr>
              <a:t>目標列出每一步，照做即為最佳解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僅最終目標：</a:t>
            </a:r>
            <a:r>
              <a:rPr lang="en-US" sz="1500" dirty="0">
                <a:solidFill>
                  <a:schemeClr val="tx1"/>
                </a:solidFill>
              </a:rPr>
              <a:t>例如「確認箱子已解鎖」，需自行探索鑰匙位置與路徑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實驗設置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比較方法與參數</a:t>
            </a:r>
            <a:endParaRPr lang="en-US" sz="32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200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4265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說明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隨機 rollout 搜尋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不使用 Laya；PUCT16，均勻先驗，價值以隨機走至終局估計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未經任務微調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以 teacher 示範資料（150 局）訓練 2 epoch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Warm start 後 8 輪 × 64 局 self-play（本研究方法）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迴圈相同，但 self-play 資料不加入 replay；隔離 self-play 的貢獻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4572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PUCT16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9834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Laya + 16 次模擬；「網路 + 搜尋」的能力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334256" y="4572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Greedy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334256" y="49834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不搜尋，取最高機率動作；網路本身的能力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82712" y="4572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指標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498348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100 局測試集：分數、成功率、平均步數、成功局平均步數；3 seeds；成對差距 = 同 seed 相減後平均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結果總覽：探索型關卡與料理關卡</a:t>
            </a:r>
            <a:endParaRPr lang="en-US" sz="32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2009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L2-goal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PUCT16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L2-goal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L3-goal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PUCT16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L3-goal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PUCT16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C1</a:t>
                      </a:r>
                      <a:endParaRPr lang="en-US" sz="1300" dirty="0"/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隨機 rollout 搜尋（無 Laya）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0.233 (0.34)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0.094 (0.13)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0.277 (0.32)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0.128 (0.19)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0.061 (0.09)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0.052 (0.07)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0.031 (0.04)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0.140 (0.15)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0.003 (0.00)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0.396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 (1.00)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 (1.00)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0.579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0.371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0.736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0.590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0.640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0.428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0.804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461772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原始 Laya 無法直接使用：</a:t>
            </a:r>
            <a:r>
              <a:rPr lang="en-US" sz="1500" dirty="0">
                <a:solidFill>
                  <a:schemeClr val="tx1"/>
                </a:solidFill>
              </a:rPr>
              <a:t>greedy 成功率皆 &lt; 10%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Teacher 微調為最大躍升：</a:t>
            </a:r>
            <a:r>
              <a:rPr lang="en-US" sz="1500" dirty="0">
                <a:solidFill>
                  <a:schemeClr val="tx1"/>
                </a:solidFill>
              </a:rPr>
              <a:t>greedy 於 L2-goal 0.06 → 0.50、L3-goal 0.03 → 0.30</a:t>
            </a:r>
            <a:endParaRPr lang="en-US" sz="1500" dirty="0"/>
          </a:p>
        </p:txBody>
      </p:sp>
      <p:sp>
        <p:nvSpPr>
          <p:cNvPr id="6" name="footnote"/>
          <p:cNvSpPr txBox="1"/>
          <p:nvPr/>
        </p:nvSpPr>
        <p:spPr>
          <a:xfrm>
            <a:off x="685800" y="5760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平均 reward（括號為成功率），100 局測試集。Warm start 為該關卡全部實驗平均；Teacher-only 與 Self-play 為 3 個 seed 平均。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Self-play 帶來明確增益，任務越難增益越大</a:t>
            </a:r>
            <a:endParaRPr lang="en-US" sz="3200" dirty="0"/>
          </a:p>
        </p:txBody>
      </p:sp>
      <p:graphicFrame>
        <p:nvGraphicFramePr>
          <p:cNvPr id="4" name="selfplay gain chart" descr=""/>
          <p:cNvGraphicFramePr/>
          <p:nvPr/>
        </p:nvGraphicFramePr>
        <p:xfrm>
          <a:off x="685800" y="160020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01000" y="1783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Self-play − Teacher-only（成對差距）</a:t>
            </a:r>
            <a:endParaRPr lang="en-US" sz="1300" dirty="0"/>
          </a:p>
        </p:txBody>
      </p:sp>
      <p:sp>
        <p:nvSpPr>
          <p:cNvPr id="6" name="stat: L2-goal（± 0.05）"/>
          <p:cNvSpPr txBox="1"/>
          <p:nvPr/>
        </p:nvSpPr>
        <p:spPr>
          <a:xfrm>
            <a:off x="800100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+0.12</a:t>
            </a:r>
            <a:endParaRPr lang="en-US" sz="4800" dirty="0"/>
          </a:p>
        </p:txBody>
      </p:sp>
      <p:sp>
        <p:nvSpPr>
          <p:cNvPr id="7" name="stat label: L2-goal（± 0.05）"/>
          <p:cNvSpPr txBox="1"/>
          <p:nvPr/>
        </p:nvSpPr>
        <p:spPr>
          <a:xfrm>
            <a:off x="8001000" y="2999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L2-goal（± 0.05）</a:t>
            </a:r>
            <a:endParaRPr lang="en-US" sz="1300" dirty="0"/>
          </a:p>
        </p:txBody>
      </p:sp>
      <p:sp>
        <p:nvSpPr>
          <p:cNvPr id="8" name="stat: L3-goal（± 0.06）"/>
          <p:cNvSpPr txBox="1"/>
          <p:nvPr/>
        </p:nvSpPr>
        <p:spPr>
          <a:xfrm>
            <a:off x="800100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+0.22</a:t>
            </a:r>
            <a:endParaRPr lang="en-US" sz="4800" dirty="0"/>
          </a:p>
        </p:txBody>
      </p:sp>
      <p:sp>
        <p:nvSpPr>
          <p:cNvPr id="9" name="stat label: L3-goal（± 0.06）"/>
          <p:cNvSpPr txBox="1"/>
          <p:nvPr/>
        </p:nvSpPr>
        <p:spPr>
          <a:xfrm>
            <a:off x="8001000" y="4507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L3-goal（± 0.06）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5166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個 seed 皆為正；僅重複訓練 teacher 資料幾乎無增益。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L3-goal（PUCT16）：增益主要來自成功率</a:t>
            </a:r>
            <a:endParaRPr lang="en-US" sz="32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223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097280"/>
                <a:gridCol w="1097280"/>
                <a:gridCol w="128016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分數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成功率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平均步數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成功局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平均步數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隨機 rollout 搜尋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0.094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0.413 ± 0.060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0.59 ± 0.08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18.3 ± 2.1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10.2 ± 1.0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0.640 ± 0.004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0.89 ± 0.01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11.0 ± 0.3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8.6 ± 0.5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Self-play：僅學有效率成功局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0.643 ± 0.026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0.89 ± 0.04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11.0 ± 0.9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8.7 ± 0.6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Self-play：48 次模擬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0.624 ± 0.036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0.88 ± 0.04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11.6 ± 1.3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9.1 ± 0.5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0" y="1691640"/>
            <a:ext cx="32735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成功率：</a:t>
            </a:r>
            <a:r>
              <a:rPr lang="en-US" sz="1400" dirty="0">
                <a:solidFill>
                  <a:schemeClr val="tx1"/>
                </a:solidFill>
              </a:rPr>
              <a:t>0.59 → 0.89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成功局步數：</a:t>
            </a:r>
            <a:r>
              <a:rPr lang="en-US" sz="1400" dirty="0">
                <a:solidFill>
                  <a:schemeClr val="tx1"/>
                </a:solidFill>
              </a:rPr>
              <a:t>10.2 → 8.6，接近任務最短 8 步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平均步數：</a:t>
            </a:r>
            <a:r>
              <a:rPr lang="en-US" sz="1400" dirty="0">
                <a:solidFill>
                  <a:schemeClr val="tx1"/>
                </a:solidFill>
              </a:rPr>
              <a:t>18.3 → 11.0，主因為失敗局減少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進階變體：</a:t>
            </a:r>
            <a:r>
              <a:rPr lang="en-US" sz="1400" dirty="0">
                <a:solidFill>
                  <a:schemeClr val="tx1"/>
                </a:solidFill>
              </a:rPr>
              <a:t>成功率與步數皆無優勢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剩餘空間：</a:t>
            </a:r>
            <a:r>
              <a:rPr lang="en-US" sz="1400" dirty="0">
                <a:solidFill>
                  <a:schemeClr val="tx1"/>
                </a:solidFill>
              </a:rPr>
              <a:t>約 11% 未解出，主要在成功率而非效率</a:t>
            </a:r>
            <a:endParaRPr lang="en-US" sz="1400" dirty="0"/>
          </a:p>
        </p:txBody>
      </p:sp>
      <p:sp>
        <p:nvSpPr>
          <p:cNvPr id="6" name="footnote"/>
          <p:cNvSpPr txBox="1"/>
          <p:nvPr/>
        </p:nvSpPr>
        <p:spPr>
          <a:xfrm>
            <a:off x="685800" y="55778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局測試集；± 為 3 個 seed 標準差。平均步數含失敗局（以上限 30 步計）；成功局平均步數僅計解出的局。— 為報告未記錄。</a:t>
            </a:r>
            <a:endParaRPr lang="en-US" sz="1100" dirty="0"/>
          </a:p>
        </p:txBody>
      </p:sp>
      <p:sp>
        <p:nvSpPr>
          <p:cNvPr id="7" name="footnote"/>
          <p:cNvSpPr txBox="1"/>
          <p:nvPr/>
        </p:nvSpPr>
        <p:spPr>
          <a:xfrm>
            <a:off x="685800" y="58521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Warm start 為全部實驗平均；隨機 rollout 與原始 Laya 不經訓練，與 seed 無關。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L3-goal（Greedy）：網路本身的提升有限</a:t>
            </a:r>
            <a:endParaRPr lang="en-US" sz="32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223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097280"/>
                <a:gridCol w="1097280"/>
                <a:gridCol w="128016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分數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成功率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平均步數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成功局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平均步數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0.031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0.428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Self-play：僅學有效率成功局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0.445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Self-play：48 次模擬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0.465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0" y="169164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Self-play − Teacher-only</a:t>
            </a:r>
            <a:endParaRPr lang="en-US" sz="1300" dirty="0"/>
          </a:p>
        </p:txBody>
      </p:sp>
      <p:sp>
        <p:nvSpPr>
          <p:cNvPr id="6" name="stat: Greedy"/>
          <p:cNvSpPr txBox="1"/>
          <p:nvPr/>
        </p:nvSpPr>
        <p:spPr>
          <a:xfrm>
            <a:off x="822960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+0.06</a:t>
            </a:r>
            <a:endParaRPr lang="en-US" sz="3600" dirty="0"/>
          </a:p>
        </p:txBody>
      </p:sp>
      <p:sp>
        <p:nvSpPr>
          <p:cNvPr id="7" name="stat label: Greedy"/>
          <p:cNvSpPr txBox="1"/>
          <p:nvPr/>
        </p:nvSpPr>
        <p:spPr>
          <a:xfrm>
            <a:off x="8229600" y="2907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Greedy</a:t>
            </a:r>
            <a:endParaRPr lang="en-US" sz="1300" dirty="0"/>
          </a:p>
        </p:txBody>
      </p:sp>
      <p:sp>
        <p:nvSpPr>
          <p:cNvPr id="8" name="stat: PUCT16"/>
          <p:cNvSpPr txBox="1"/>
          <p:nvPr/>
        </p:nvSpPr>
        <p:spPr>
          <a:xfrm>
            <a:off x="992124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+0.23</a:t>
            </a:r>
            <a:endParaRPr lang="en-US" sz="3600" dirty="0"/>
          </a:p>
        </p:txBody>
      </p:sp>
      <p:sp>
        <p:nvSpPr>
          <p:cNvPr id="9" name="stat label: PUCT16"/>
          <p:cNvSpPr txBox="1"/>
          <p:nvPr/>
        </p:nvSpPr>
        <p:spPr>
          <a:xfrm>
            <a:off x="9921240" y="2907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PUCT16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794760"/>
            <a:ext cx="3273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Self-play 對網路本身的直接提升較小，主要透過價值網路提升搜尋後的成績。</a:t>
            </a:r>
            <a:endParaRPr lang="en-US" sz="1400" dirty="0"/>
          </a:p>
        </p:txBody>
      </p:sp>
      <p:sp>
        <p:nvSpPr>
          <p:cNvPr id="11" name="footnote"/>
          <p:cNvSpPr txBox="1"/>
          <p:nvPr/>
        </p:nvSpPr>
        <p:spPr>
          <a:xfrm>
            <a:off x="685800" y="51206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局測試集，3 個 seed 平均。— 為報告未記錄（成功率與步數僅記錄於 PUCT16）。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增益來源：價值網路使搜尋生效</a:t>
            </a:r>
            <a:endParaRPr lang="en-US" sz="3200" dirty="0"/>
          </a:p>
        </p:txBody>
      </p:sp>
      <p:graphicFrame>
        <p:nvGraphicFramePr>
          <p:cNvPr id="4" name="search gain chart" descr=""/>
          <p:cNvGraphicFramePr/>
          <p:nvPr/>
        </p:nvGraphicFramePr>
        <p:xfrm>
          <a:off x="685800" y="1600200"/>
          <a:ext cx="56692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03720" y="178308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Teacher-only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2194560"/>
            <a:ext cx="4599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Teacher 每局皆成功，所有 value 標籤皆為「會成功」；價值網路無法區分局面優劣，搜尋幾乎無增益。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34290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Self-play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903720" y="3840480"/>
            <a:ext cx="4599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引入失敗與繞路的真實結果，且位於搜尋實際到達的狀態；價值估計具鑑別力，搜尋增益擴大 4–5 倍。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512064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Warm start → Self-play（L3-goal）：PUCT16 +0.24，Greedy +0.13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逐步指示與料理關卡：模仿即近最優</a:t>
            </a:r>
            <a:endParaRPr lang="en-US" sz="32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71323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143000"/>
                <a:gridCol w="13716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L1 PUCT16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L1 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L2 PUCT16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L2 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隨機 rollout 搜尋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0.564 (0.70)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0.156 (0.21)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原始 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0.446 (0.59)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0.254 (0.31)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0.117 (0.18)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0.042 (0.06)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Warm start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Teacher-only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0.857 ± 0.006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0.776 ± 0.002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Self-play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0.848 ± 0.014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0.829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0.780 ± 0.004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0.766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成對差距（SP − TO）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−0.009 ± 0.008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+0.004 ± 0.006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理論最佳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0.864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0.795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83880" y="169164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L1、L2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103120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Warm start 後距最佳僅 0.005 / 0.02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Self-play 與 teacher-only 差異落於雜訊內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361188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C1（料理）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023360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所有方法 100% 成功、平均 4.73 步、reward 0.804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完全複製 teacher 路線，greedy 與搜尋相同</a:t>
            </a:r>
            <a:endParaRPr lang="en-US" sz="1400" dirty="0"/>
          </a:p>
        </p:txBody>
      </p:sp>
      <p:sp>
        <p:nvSpPr>
          <p:cNvPr id="9" name="footnote"/>
          <p:cNvSpPr txBox="1"/>
          <p:nvPr/>
        </p:nvSpPr>
        <p:spPr>
          <a:xfrm>
            <a:off x="685800" y="53492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局測試集，括號為成功率；SP − TO = Self-play − Teacher-only；理論最佳 = 全部以最短步數解出。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跨關卡：增益取決於模仿後的剩餘空間</a:t>
            </a:r>
            <a:endParaRPr lang="en-US" sz="3200" dirty="0"/>
          </a:p>
        </p:txBody>
      </p:sp>
      <p:graphicFrame>
        <p:nvGraphicFramePr>
          <p:cNvPr id="4" name="cross level chart" descr=""/>
          <p:cNvGraphicFramePr/>
          <p:nvPr/>
        </p:nvGraphicFramePr>
        <p:xfrm>
          <a:off x="685800" y="160020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092440" y="17830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逐步指示 / 料理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19456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L1、L2、C1：模仿即近最優，self-play 無增益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32918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僅最終目標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3703320"/>
            <a:ext cx="3410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L2-goal、L3-goal：需自行探索，模仿留下空間，self-play 增益顯著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推論速度：Greedy 與 PUCT</a:t>
            </a:r>
            <a:endParaRPr lang="en-US" sz="32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200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  <a:gridCol w="1051560"/>
                <a:gridCol w="1234440"/>
                <a:gridCol w="1600200"/>
                <a:gridCol w="1463040"/>
                <a:gridCol w="1371600"/>
                <a:gridCol w="158465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方法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成功率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分數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每局秒數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每步 ms（平均）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p50 / p95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相對 greedy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模型 / 環境時間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Greedy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0.547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 / 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66% / 34%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PUCT16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0.97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0.745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1.35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158 / 505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15.6×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21% / 78%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PUCT64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103 / 1086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19.0×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24% / 75%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3703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每步約 0.2 秒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1605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搜尋為 greedy 的 15–19 倍；成功率 0.70 → 0.97–1.00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34256" y="3703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模擬 ×4，每步僅 +20%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334256" y="41605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評估快取於局內重用，終局不需呼叫模型；PUCT64 步數較少，每局時間反而略短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82712" y="3703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瓶頸在環境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41605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75–78% 時間耗於 TextWorld 重播，Laya 僅 21–24%</a:t>
            </a:r>
            <a:endParaRPr lang="en-US" sz="1400" dirty="0"/>
          </a:p>
        </p:txBody>
      </p:sp>
      <p:sp>
        <p:nvSpPr>
          <p:cNvPr id="11" name="footnote"/>
          <p:cNvSpPr txBox="1"/>
          <p:nvPr/>
        </p:nvSpPr>
        <p:spPr>
          <a:xfrm>
            <a:off x="685800" y="56235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L2-goal，self-play（seed 0）最終權重；GPU、單一 agent 逐局執行；每方法 30 局測試遊戲，暖機 2 局不計時；每局清空評估快取；PUCT 批次 4、無 Dirichlet 雜訊。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結論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結論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830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AlphaZero 式迴圈可於文字任務運作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2219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探索型關卡上 self-play 帶來穩定增益：L2-goal +0.12、L3-goal +0.22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7889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增益主要來自價值網路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278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Self-play 提供真實結果，L3-goal 搜尋增益由 +0.04 提升至 +0.21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794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模仿已達最優時無改進空間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2336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L1、L2、C1 中 self-play 與 teacher-only 無差異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00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800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搜尋代價可接受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2395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每步約 0.2 秒；模擬次數 ×4 每步僅 +20%，瓶頸在環境而非 Laya</a:t>
            </a:r>
            <a:endParaRPr lang="en-US" sz="1400" dirty="0"/>
          </a:p>
        </p:txBody>
      </p:sp>
      <p:sp>
        <p:nvSpPr>
          <p:cNvPr id="16" name="limits bg"/>
          <p:cNvSpPr/>
          <p:nvPr/>
        </p:nvSpPr>
        <p:spPr>
          <a:xfrm>
            <a:off x="8138160" y="1691640"/>
            <a:ext cx="3364992" cy="406908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87452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限制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286000"/>
            <a:ext cx="2816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Self-play 於 1–2 輪後趨於飽和（L3-goal 約 70% 增益發生於第 1 輪）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驗證集僅 40 局，gate 決策受雜訊影響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794760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後續方向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206240"/>
            <a:ext cx="2816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於 L3-goal 驗證評估時增加模擬次數的效益（L2-goal PUCT64 已近理論最佳）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更難任務：C2、ALFWorld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 txBox="1"/>
          <p:nvPr/>
        </p:nvSpPr>
        <p:spPr>
          <a:xfrm>
            <a:off x="685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306324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附錄</a:t>
            </a:r>
            <a:endParaRPr lang="en-US" sz="4000" dirty="0"/>
          </a:p>
        </p:txBody>
      </p:sp>
      <p:sp>
        <p:nvSpPr>
          <p:cNvPr id="4" name="section subtitle"/>
          <p:cNvSpPr txBox="1"/>
          <p:nvPr/>
        </p:nvSpPr>
        <p:spPr>
          <a:xfrm>
            <a:off x="685800" y="393192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管線驗證：Countdown 與一元一次方程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附錄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管線驗證：任務與設定</a:t>
            </a:r>
            <a:endParaRPr lang="en-US" sz="3200" dirty="0"/>
          </a:p>
        </p:txBody>
      </p:sp>
      <p:sp>
        <p:nvSpPr>
          <p:cNvPr id="4" name="card Countdown"/>
          <p:cNvSpPr/>
          <p:nvPr/>
        </p:nvSpPr>
        <p:spPr>
          <a:xfrm>
            <a:off x="685800" y="1691640"/>
            <a:ext cx="5120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Countdown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77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以四則運算組合給定數字，湊出目標數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Reward：是否成功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Teacher：窮舉搜尋</a:t>
            </a:r>
            <a:endParaRPr lang="en-US" sz="1400" dirty="0"/>
          </a:p>
        </p:txBody>
      </p:sp>
      <p:sp>
        <p:nvSpPr>
          <p:cNvPr id="7" name="card 一元一次方程"/>
          <p:cNvSpPr/>
          <p:nvPr/>
        </p:nvSpPr>
        <p:spPr>
          <a:xfrm>
            <a:off x="6385255" y="1691640"/>
            <a:ext cx="5120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59575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一元一次方程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59575" y="2377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逐步選擇代數改寫，化簡至 x = c；以 SymPy 驗證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Reward：0.5 + 0.5 · 0.9ⁿ</a:t>
            </a:r>
            <a:endParaRPr lang="en-US" sz="14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Teacher：廣度優先搜尋（最短步數）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設定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411480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 縮小規模：評估 30 題、self-play 每輪 16 局；差距 &lt; 0.05 視為雜訊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模型：Laya（laya-multilingual）與隨機初始化的微型模型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里程碑：PUCT16 reward 隨迭代上升；優於 greedy；優於同預算的均勻先驗搜尋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附錄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管線驗證：結果</a:t>
            </a:r>
            <a:endParaRPr lang="en-US" sz="32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8200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2560320"/>
                <a:gridCol w="2606040"/>
                <a:gridCol w="1554480"/>
                <a:gridCol w="144749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任務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模型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起點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PUCT16（初始 → 最終）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均勻先驗搜尋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Countdown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150 題 + 1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0.17 → 0.83 → 0.93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150 題 + 4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0.35 → 0.776 → 0.777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Laya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無 teacher，4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0.35 → 0.68 → 0.71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0.02 → 0.71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0.727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無 teacher，8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0.07 → 0.54 → 0.74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 → 0.61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150 題 + 6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 → 0.75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0.60 → 0.72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代數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1000 題 + 6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0.769 → 0.772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0.776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Countdown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微型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teacher 1000 題 + 6 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0.22 → 0.37 → 0.35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685800" y="5440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Countdown 的 reward 為成功率；代數理論最優約 0.777（平均 5.6 步）。中間值為 warm start 或第 1 輪後的結果。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6858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附錄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85800" y="713232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管線驗證：觀察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預訓練的效益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0.83 vs 0.37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Countdown：Laya 以 150 題 teacher 資料達 0.83；微型模型以 1000 題僅 0.37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無 teacher 亦可學習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0.00 → 0.61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代數微型模型 greedy；PUCT16 0.07 → 0.74，超越均勻先驗搜尋（0.730）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搜尋效益取決於價值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0.29 → 0.93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3246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Countdown 改用 oracle 價值，同一搜尋成功率由 0.29 升至 0.80–0.93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46320"/>
            <a:ext cx="10820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Reward 下限 0.5 的設計源於此階段：僅用 0.9ⁿ 時，價值網路傾向拖延至步數用盡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價值網路較弱時，PUCT 比 Gumbel AlphaZero 穩定，後續實驗皆採 PUCT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a MCTS Minimal">
  <a:themeElements>
    <a:clrScheme name="Laya MCTS 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766E"/>
      </a:accent1>
      <a:accent2>
        <a:srgbClr val="9CA3AF"/>
      </a:accent2>
      <a:accent3>
        <a:srgbClr val="D1D5DB"/>
      </a:accent3>
      <a:accent4>
        <a:srgbClr val="4B5563"/>
      </a:accent4>
      <a:accent5>
        <a:srgbClr val="99C9C4"/>
      </a:accent5>
      <a:accent6>
        <a:srgbClr val="374151"/>
      </a:accent6>
      <a:hlink>
        <a:srgbClr val="0F766E"/>
      </a:hlink>
      <a:folHlink>
        <a:srgbClr val="6B7280"/>
      </a:folHlink>
    </a:clrScheme>
    <a:fontScheme name="Laya MCTS Minimal">
      <a:majorFont>
        <a:latin typeface="Calibr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Laya + MCTS：架構與實驗結果（精簡版）</dc:title>
  <dc:subject>PptxGenJS Presentation</dc:subject>
  <dc:creator>PptxGenJS</dc:creator>
  <cp:lastModifiedBy>PptxGenJS</cp:lastModifiedBy>
  <cp:revision>1</cp:revision>
  <dcterms:created xsi:type="dcterms:W3CDTF">2026-10-08T06:19:23Z</dcterms:created>
  <dcterms:modified xsi:type="dcterms:W3CDTF">2026-10-08T06:19:23Z</dcterms:modified>
</cp:coreProperties>
</file>