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Laya 是讀文字、從選項中做決定的小型 AI；MCTS 是先往前模擬很多次再出手的搜尋方法。
單獨用 Laya：判斷快，但只看眼前。單獨用 MCTS：要靠隨機試玩判斷好壞，問題一大就像亂猜。
結合後，Laya 告訴搜尋該往哪裡試、局面看起來有沒有希望；搜尋則往前驗證，修正 Laya 一時的誤判。
在最難的關卡，成功率從不用 Laya 的 13% 提高到 89%，成功時平均 8.6 步，接近最少的 8 步。
另外三個好處：只會選合法動作、每一步有成功機率可以當信心分數、能在模擬環境中自我練習（比只學示範的 59% 高到 89%）。
三個結論：Laya + MCTS 顯著優於只用 MCTS；Laya 一定要先針對任務微調，未微調時加上搜尋反而比 MCTS 差（7% 對 13%）；這套方法每走一步要試走 16 次，速度測試中近八成時間花在遊戲模擬，所以需要快速、低成本的模擬環境。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858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Laya + MCTS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Laya 指方向，MCTS 驗證後果</a:t>
            </a:r>
            <a:endParaRPr lang="en-US" sz="3200" dirty="0"/>
          </a:p>
        </p:txBody>
      </p:sp>
      <p:sp>
        <p:nvSpPr>
          <p:cNvPr id="4" name="card: Laya 決策型 AI"/>
          <p:cNvSpPr/>
          <p:nvPr/>
        </p:nvSpPr>
        <p:spPr>
          <a:xfrm>
            <a:off x="685800" y="1600200"/>
            <a:ext cx="31546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5" name="card title"/>
          <p:cNvSpPr txBox="1"/>
          <p:nvPr/>
        </p:nvSpPr>
        <p:spPr>
          <a:xfrm>
            <a:off x="914400" y="180136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Laya 決策型 AI</a:t>
            </a:r>
            <a:endParaRPr lang="en-US" sz="2100" dirty="0"/>
          </a:p>
        </p:txBody>
      </p:sp>
      <p:sp>
        <p:nvSpPr>
          <p:cNvPr id="6" name="card lead"/>
          <p:cNvSpPr txBox="1"/>
          <p:nvPr/>
        </p:nvSpPr>
        <p:spPr>
          <a:xfrm>
            <a:off x="914400" y="2258568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讀懂目標和畫面，判斷「哪一步值得試」與「照這樣會不會成功」</a:t>
            </a:r>
            <a:endParaRPr lang="en-US" sz="1400" dirty="0"/>
          </a:p>
        </p:txBody>
      </p:sp>
      <p:sp>
        <p:nvSpPr>
          <p:cNvPr id="7" name="divider"/>
          <p:cNvSpPr/>
          <p:nvPr/>
        </p:nvSpPr>
        <p:spPr>
          <a:xfrm>
            <a:off x="914400" y="2880360"/>
            <a:ext cx="269748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8" name="card limit"/>
          <p:cNvSpPr txBox="1"/>
          <p:nvPr/>
        </p:nvSpPr>
        <p:spPr>
          <a:xfrm>
            <a:off x="914400" y="297180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2"/>
                </a:solidFill>
              </a:rPr>
              <a:t>單獨使用的限制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只看眼前，無法驗證一步之後的後果</a:t>
            </a:r>
            <a:endParaRPr lang="en-US" sz="1400" dirty="0"/>
          </a:p>
        </p:txBody>
      </p:sp>
      <p:sp>
        <p:nvSpPr>
          <p:cNvPr id="9" name="operator +"/>
          <p:cNvSpPr txBox="1"/>
          <p:nvPr/>
        </p:nvSpPr>
        <p:spPr>
          <a:xfrm>
            <a:off x="3840480" y="2331720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+</a:t>
            </a:r>
            <a:endParaRPr lang="en-US" sz="3400" dirty="0"/>
          </a:p>
        </p:txBody>
      </p:sp>
      <p:sp>
        <p:nvSpPr>
          <p:cNvPr id="10" name="card: MCTS 蒙地卡羅樹搜尋"/>
          <p:cNvSpPr/>
          <p:nvPr/>
        </p:nvSpPr>
        <p:spPr>
          <a:xfrm>
            <a:off x="4407408" y="1600200"/>
            <a:ext cx="31546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11" name="card title"/>
          <p:cNvSpPr txBox="1"/>
          <p:nvPr/>
        </p:nvSpPr>
        <p:spPr>
          <a:xfrm>
            <a:off x="4636008" y="180136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MCTS 蒙地卡羅樹搜尋</a:t>
            </a:r>
            <a:endParaRPr lang="en-US" sz="2100" dirty="0"/>
          </a:p>
        </p:txBody>
      </p:sp>
      <p:sp>
        <p:nvSpPr>
          <p:cNvPr id="12" name="card lead"/>
          <p:cNvSpPr txBox="1"/>
          <p:nvPr/>
        </p:nvSpPr>
        <p:spPr>
          <a:xfrm>
            <a:off x="4636008" y="2258568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先往前模擬很多次，再挑最有希望的一步</a:t>
            </a:r>
            <a:endParaRPr lang="en-US" sz="1400" dirty="0"/>
          </a:p>
        </p:txBody>
      </p:sp>
      <p:sp>
        <p:nvSpPr>
          <p:cNvPr id="13" name="divider"/>
          <p:cNvSpPr/>
          <p:nvPr/>
        </p:nvSpPr>
        <p:spPr>
          <a:xfrm>
            <a:off x="4636008" y="2880360"/>
            <a:ext cx="269748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14" name="card limit"/>
          <p:cNvSpPr txBox="1"/>
          <p:nvPr/>
        </p:nvSpPr>
        <p:spPr>
          <a:xfrm>
            <a:off x="4636008" y="297180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tx2"/>
                </a:solidFill>
              </a:rPr>
              <a:t>單獨使用的限制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靠隨機試玩判斷好壞，問題一大就找不到方向</a:t>
            </a:r>
            <a:endParaRPr lang="en-US" sz="1400" dirty="0"/>
          </a:p>
        </p:txBody>
      </p:sp>
      <p:sp>
        <p:nvSpPr>
          <p:cNvPr id="15" name="operator →"/>
          <p:cNvSpPr txBox="1"/>
          <p:nvPr/>
        </p:nvSpPr>
        <p:spPr>
          <a:xfrm>
            <a:off x="7562088" y="2331720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→</a:t>
            </a:r>
            <a:endParaRPr lang="en-US" sz="3400" dirty="0"/>
          </a:p>
        </p:txBody>
      </p:sp>
      <p:sp>
        <p:nvSpPr>
          <p:cNvPr id="16" name="card: result"/>
          <p:cNvSpPr/>
          <p:nvPr/>
        </p:nvSpPr>
        <p:spPr>
          <a:xfrm>
            <a:off x="8129016" y="1600200"/>
            <a:ext cx="3376879" cy="2103120"/>
          </a:xfrm>
          <a:prstGeom prst="roundRect">
            <a:avLst>
              <a:gd name="adj" fmla="val 4348"/>
            </a:avLst>
          </a:prstGeom>
          <a:solidFill>
            <a:srgbClr val="E7F2F1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7" name="result title"/>
          <p:cNvSpPr txBox="1"/>
          <p:nvPr/>
        </p:nvSpPr>
        <p:spPr>
          <a:xfrm>
            <a:off x="8357616" y="1801368"/>
            <a:ext cx="29196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有方向的搜尋</a:t>
            </a:r>
            <a:endParaRPr lang="en-US" sz="2100" dirty="0"/>
          </a:p>
        </p:txBody>
      </p:sp>
      <p:sp>
        <p:nvSpPr>
          <p:cNvPr id="18" name="result lead"/>
          <p:cNvSpPr txBox="1"/>
          <p:nvPr/>
        </p:nvSpPr>
        <p:spPr>
          <a:xfrm>
            <a:off x="8357616" y="2258568"/>
            <a:ext cx="29196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Laya 告訴搜尋往哪裡試，搜尋替 Laya 檢查後果、修正誤判</a:t>
            </a:r>
            <a:endParaRPr lang="en-US" sz="1400" dirty="0"/>
          </a:p>
        </p:txBody>
      </p:sp>
      <p:sp>
        <p:nvSpPr>
          <p:cNvPr id="19" name="result stat"/>
          <p:cNvSpPr txBox="1"/>
          <p:nvPr/>
        </p:nvSpPr>
        <p:spPr>
          <a:xfrm>
            <a:off x="8357616" y="2743200"/>
            <a:ext cx="291967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13% → 89%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最難關卡的成功率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對比：不用 Laya 的 MCTS</a:t>
            </a:r>
            <a:endParaRPr lang="en-US" sz="1400" dirty="0"/>
          </a:p>
        </p:txBody>
      </p:sp>
      <p:sp>
        <p:nvSpPr>
          <p:cNvPr id="20" name="benefits label"/>
          <p:cNvSpPr txBox="1"/>
          <p:nvPr/>
        </p:nvSpPr>
        <p:spPr>
          <a:xfrm>
            <a:off x="685800" y="39410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帶來的好處</a:t>
            </a:r>
            <a:endParaRPr lang="en-US" sz="1300" dirty="0"/>
          </a:p>
        </p:txBody>
      </p:sp>
      <p:sp>
        <p:nvSpPr>
          <p:cNvPr id="21" name="benefit: 更準、更有效率"/>
          <p:cNvSpPr/>
          <p:nvPr/>
        </p:nvSpPr>
        <p:spPr>
          <a:xfrm>
            <a:off x="685800" y="4224528"/>
            <a:ext cx="2533574" cy="1024128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22" name="benefit number"/>
          <p:cNvSpPr/>
          <p:nvPr/>
        </p:nvSpPr>
        <p:spPr>
          <a:xfrm>
            <a:off x="886968" y="4352544"/>
            <a:ext cx="310896" cy="310896"/>
          </a:xfrm>
          <a:prstGeom prst="ellipse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86968" y="4352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4" name="benefit title"/>
          <p:cNvSpPr txBox="1"/>
          <p:nvPr/>
        </p:nvSpPr>
        <p:spPr>
          <a:xfrm>
            <a:off x="1307592" y="4334256"/>
            <a:ext cx="17563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更準、更有效率</a:t>
            </a:r>
            <a:endParaRPr lang="en-US" sz="1500" dirty="0"/>
          </a:p>
        </p:txBody>
      </p:sp>
      <p:sp>
        <p:nvSpPr>
          <p:cNvPr id="25" name="benefit text"/>
          <p:cNvSpPr txBox="1"/>
          <p:nvPr/>
        </p:nvSpPr>
        <p:spPr>
          <a:xfrm>
            <a:off x="886968" y="4736592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成功的場次平均 8.6 步，接近任務最少的 8 步</a:t>
            </a:r>
            <a:endParaRPr lang="en-US" sz="1200" dirty="0"/>
          </a:p>
        </p:txBody>
      </p:sp>
      <p:sp>
        <p:nvSpPr>
          <p:cNvPr id="26" name="benefit: 行動可控"/>
          <p:cNvSpPr/>
          <p:nvPr/>
        </p:nvSpPr>
        <p:spPr>
          <a:xfrm>
            <a:off x="3447974" y="4224528"/>
            <a:ext cx="2533574" cy="1024128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27" name="benefit number"/>
          <p:cNvSpPr/>
          <p:nvPr/>
        </p:nvSpPr>
        <p:spPr>
          <a:xfrm>
            <a:off x="3649142" y="4352544"/>
            <a:ext cx="310896" cy="310896"/>
          </a:xfrm>
          <a:prstGeom prst="ellipse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649142" y="4352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9" name="benefit title"/>
          <p:cNvSpPr txBox="1"/>
          <p:nvPr/>
        </p:nvSpPr>
        <p:spPr>
          <a:xfrm>
            <a:off x="4069766" y="4334256"/>
            <a:ext cx="17563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行動可控</a:t>
            </a:r>
            <a:endParaRPr lang="en-US" sz="1500" dirty="0"/>
          </a:p>
        </p:txBody>
      </p:sp>
      <p:sp>
        <p:nvSpPr>
          <p:cNvPr id="30" name="benefit text"/>
          <p:cNvSpPr txBox="1"/>
          <p:nvPr/>
        </p:nvSpPr>
        <p:spPr>
          <a:xfrm>
            <a:off x="3649142" y="4736592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只從列舉出的合法動作中挑選，不會產生不存在的操作</a:t>
            </a:r>
            <a:endParaRPr lang="en-US" sz="1200" dirty="0"/>
          </a:p>
        </p:txBody>
      </p:sp>
      <p:sp>
        <p:nvSpPr>
          <p:cNvPr id="31" name="benefit: 有信心分數"/>
          <p:cNvSpPr/>
          <p:nvPr/>
        </p:nvSpPr>
        <p:spPr>
          <a:xfrm>
            <a:off x="6210148" y="4224528"/>
            <a:ext cx="2533574" cy="1024128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32" name="benefit number"/>
          <p:cNvSpPr/>
          <p:nvPr/>
        </p:nvSpPr>
        <p:spPr>
          <a:xfrm>
            <a:off x="6411316" y="4352544"/>
            <a:ext cx="310896" cy="310896"/>
          </a:xfrm>
          <a:prstGeom prst="ellipse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11316" y="4352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4" name="benefit title"/>
          <p:cNvSpPr txBox="1"/>
          <p:nvPr/>
        </p:nvSpPr>
        <p:spPr>
          <a:xfrm>
            <a:off x="6831940" y="4334256"/>
            <a:ext cx="17563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有信心分數</a:t>
            </a:r>
            <a:endParaRPr lang="en-US" sz="1500" dirty="0"/>
          </a:p>
        </p:txBody>
      </p:sp>
      <p:sp>
        <p:nvSpPr>
          <p:cNvPr id="35" name="benefit text"/>
          <p:cNvSpPr txBox="1"/>
          <p:nvPr/>
        </p:nvSpPr>
        <p:spPr>
          <a:xfrm>
            <a:off x="6411316" y="4736592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每一步附成功機率，可設門檻，低信心時轉給人工</a:t>
            </a:r>
            <a:endParaRPr lang="en-US" sz="1200" dirty="0"/>
          </a:p>
        </p:txBody>
      </p:sp>
      <p:sp>
        <p:nvSpPr>
          <p:cNvPr id="36" name="benefit: 會自我進步"/>
          <p:cNvSpPr/>
          <p:nvPr/>
        </p:nvSpPr>
        <p:spPr>
          <a:xfrm>
            <a:off x="8972321" y="4224528"/>
            <a:ext cx="2533574" cy="1024128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37" name="benefit number"/>
          <p:cNvSpPr/>
          <p:nvPr/>
        </p:nvSpPr>
        <p:spPr>
          <a:xfrm>
            <a:off x="9173489" y="4352544"/>
            <a:ext cx="310896" cy="310896"/>
          </a:xfrm>
          <a:prstGeom prst="ellipse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173489" y="4352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9" name="benefit title"/>
          <p:cNvSpPr txBox="1"/>
          <p:nvPr/>
        </p:nvSpPr>
        <p:spPr>
          <a:xfrm>
            <a:off x="9594113" y="4334256"/>
            <a:ext cx="17563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會自我進步</a:t>
            </a:r>
            <a:endParaRPr lang="en-US" sz="1500" dirty="0"/>
          </a:p>
        </p:txBody>
      </p:sp>
      <p:sp>
        <p:nvSpPr>
          <p:cNvPr id="40" name="benefit text"/>
          <p:cNvSpPr txBox="1"/>
          <p:nvPr/>
        </p:nvSpPr>
        <p:spPr>
          <a:xfrm>
            <a:off x="9173489" y="4736592"/>
            <a:ext cx="21312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在模擬環境自己練習：成功率 59% → 89%（相較只學示範）</a:t>
            </a:r>
            <a:endParaRPr lang="en-US" sz="1200" dirty="0"/>
          </a:p>
        </p:txBody>
      </p:sp>
      <p:sp>
        <p:nvSpPr>
          <p:cNvPr id="41" name="conclusions label"/>
          <p:cNvSpPr txBox="1"/>
          <p:nvPr/>
        </p:nvSpPr>
        <p:spPr>
          <a:xfrm>
            <a:off x="685800" y="5312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結論</a:t>
            </a:r>
            <a:endParaRPr lang="en-US" sz="1300" dirty="0"/>
          </a:p>
        </p:txBody>
      </p:sp>
      <p:sp>
        <p:nvSpPr>
          <p:cNvPr id="42" name="conclusions band"/>
          <p:cNvSpPr/>
          <p:nvPr/>
        </p:nvSpPr>
        <p:spPr>
          <a:xfrm>
            <a:off x="685800" y="5596128"/>
            <a:ext cx="10820095" cy="777240"/>
          </a:xfrm>
          <a:prstGeom prst="roundRect">
            <a:avLst>
              <a:gd name="adj" fmla="val 9412"/>
            </a:avLst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43" name="conclusion 1"/>
          <p:cNvSpPr txBox="1"/>
          <p:nvPr/>
        </p:nvSpPr>
        <p:spPr>
          <a:xfrm>
            <a:off x="914400" y="5596128"/>
            <a:ext cx="3240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Laya + MCTS 顯著優於 MCTS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最難關卡成功率 13% → 89%</a:t>
            </a:r>
            <a:endParaRPr lang="en-US" sz="1400" dirty="0"/>
          </a:p>
        </p:txBody>
      </p:sp>
      <p:sp>
        <p:nvSpPr>
          <p:cNvPr id="44" name="conclusion divider"/>
          <p:cNvSpPr/>
          <p:nvPr/>
        </p:nvSpPr>
        <p:spPr>
          <a:xfrm>
            <a:off x="4292498" y="5742432"/>
            <a:ext cx="0" cy="484632"/>
          </a:xfrm>
          <a:prstGeom prst="line">
            <a:avLst/>
          </a:prstGeom>
          <a:noFill/>
          <a:ln w="9525">
            <a:solidFill>
              <a:srgbClr val="99C9C4"/>
            </a:solidFill>
            <a:prstDash val="solid"/>
          </a:ln>
        </p:spPr>
      </p:sp>
      <p:sp>
        <p:nvSpPr>
          <p:cNvPr id="45" name="conclusion 2"/>
          <p:cNvSpPr txBox="1"/>
          <p:nvPr/>
        </p:nvSpPr>
        <p:spPr>
          <a:xfrm>
            <a:off x="4521098" y="5596128"/>
            <a:ext cx="3240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Laya 必須先微調（fine-tune）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未微調時反而比 MCTS 差：7% 對 13%</a:t>
            </a:r>
            <a:endParaRPr lang="en-US" sz="1400" dirty="0"/>
          </a:p>
        </p:txBody>
      </p:sp>
      <p:sp>
        <p:nvSpPr>
          <p:cNvPr id="46" name="conclusion divider"/>
          <p:cNvSpPr/>
          <p:nvPr/>
        </p:nvSpPr>
        <p:spPr>
          <a:xfrm>
            <a:off x="7899197" y="5742432"/>
            <a:ext cx="0" cy="484632"/>
          </a:xfrm>
          <a:prstGeom prst="line">
            <a:avLst/>
          </a:prstGeom>
          <a:noFill/>
          <a:ln w="9525">
            <a:solidFill>
              <a:srgbClr val="99C9C4"/>
            </a:solidFill>
            <a:prstDash val="solid"/>
          </a:ln>
        </p:spPr>
      </p:sp>
      <p:sp>
        <p:nvSpPr>
          <p:cNvPr id="47" name="conclusion 3"/>
          <p:cNvSpPr txBox="1"/>
          <p:nvPr/>
        </p:nvSpPr>
        <p:spPr>
          <a:xfrm>
            <a:off x="8127797" y="5596128"/>
            <a:ext cx="3240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需要快速、低成本的模擬環境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每步要試走 16 次；近八成時間花在模擬遊戲</a:t>
            </a:r>
            <a:endParaRPr lang="en-US" sz="1400" dirty="0"/>
          </a:p>
        </p:txBody>
      </p:sp>
      <p:sp>
        <p:nvSpPr>
          <p:cNvPr id="48" name="source"/>
          <p:cNvSpPr txBox="1"/>
          <p:nvPr/>
        </p:nvSpPr>
        <p:spPr>
          <a:xfrm>
            <a:off x="685800" y="6473952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數據：TextWorld 文字冒險遊戲最難關卡 L3-goal（8 個房間、任務最少 8 步），100 場測試遊戲，兩邊每步都模擬 16 次；時間占比來自 L2-goal 的 GPU 速度測試。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ya MCTS Minimal">
  <a:themeElements>
    <a:clrScheme name="Laya MCTS Minimal">
      <a:dk1>
        <a:srgbClr val="1A1A1A"/>
      </a:dk1>
      <a:lt1>
        <a:srgbClr val="FFFFFF"/>
      </a:lt1>
      <a:dk2>
        <a:srgbClr val="6B7280"/>
      </a:dk2>
      <a:lt2>
        <a:srgbClr val="F3F4F6"/>
      </a:lt2>
      <a:accent1>
        <a:srgbClr val="0F766E"/>
      </a:accent1>
      <a:accent2>
        <a:srgbClr val="9CA3AF"/>
      </a:accent2>
      <a:accent3>
        <a:srgbClr val="D1D5DB"/>
      </a:accent3>
      <a:accent4>
        <a:srgbClr val="4B5563"/>
      </a:accent4>
      <a:accent5>
        <a:srgbClr val="99C9C4"/>
      </a:accent5>
      <a:accent6>
        <a:srgbClr val="374151"/>
      </a:accent6>
      <a:hlink>
        <a:srgbClr val="0F766E"/>
      </a:hlink>
      <a:folHlink>
        <a:srgbClr val="6B7280"/>
      </a:folHlink>
    </a:clrScheme>
    <a:fontScheme name="Laya MCTS Minimal">
      <a:majorFont>
        <a:latin typeface="Calibri"/>
        <a:ea typeface="Microsoft JhengHei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Microsoft JhengHei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Laya + MCTS 的好處</dc:title>
  <dc:subject>PptxGenJS Presentation</dc:subject>
  <dc:creator>PptxGenJS</dc:creator>
  <cp:lastModifiedBy>PptxGenJS</cp:lastModifiedBy>
  <cp:revision>1</cp:revision>
  <dcterms:created xsi:type="dcterms:W3CDTF">2026-10-16T08:05:57Z</dcterms:created>
  <dcterms:modified xsi:type="dcterms:W3CDTF">2026-10-16T08:05:57Z</dcterms:modified>
</cp:coreProperties>
</file>