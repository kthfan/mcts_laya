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PUCT 是 AlphaZero 使用的 MCTS。每走一步前，從目前局面做 16 次模擬。
選擇：每層選 Q + U 最大的動作。Q 是試出來的平均價值；U = c_puct · P · √ΣN / (1 + N)，先驗高、試得少的動作加分，c_puct = 1.5。沒試過的動作 Q 取父節點的平均價值。
展開與評估：走到還沒展開的葉節點時送進 Laya，得到它的先驗 P 與價值 V；走到終局則直接用真實價值，成功為 0.9 的步數次方，失敗為 −1。
回傳：把價值 v 加到路徑上每個節點，更新 N、W、Q。self-play 一次送 8 個葉節點給 Laya，用 virtual loss 讓同一批的路徑分散；評估時一批 4 個。
16 次做完後，根節點的拜訪分佈 π 就是搜尋的決策：走拜訪次數最多的動作；self-play 時，π 銳化後成為 policy 的訓練目標。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PUCT 搜尋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PUCT 搜尋流程：每走一步前做 16 次模擬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準備根節點</a:t>
            </a:r>
            <a:endParaRPr lang="en-US" sz="1200" dirty="0"/>
          </a:p>
        </p:txBody>
      </p:sp>
      <p:sp>
        <p:nvSpPr>
          <p:cNvPr id="5" name="box: 目前局面 s₀"/>
          <p:cNvSpPr/>
          <p:nvPr/>
        </p:nvSpPr>
        <p:spPr>
          <a:xfrm>
            <a:off x="685800" y="201168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6" name="label: 目前局面 s₀"/>
          <p:cNvSpPr txBox="1"/>
          <p:nvPr/>
        </p:nvSpPr>
        <p:spPr>
          <a:xfrm>
            <a:off x="777240" y="20116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目前局面 s₀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建立搜尋樹的根節點</a:t>
            </a:r>
            <a:endParaRPr lang="en-US" sz="1500" dirty="0"/>
          </a:p>
        </p:txBody>
      </p:sp>
      <p:sp>
        <p:nvSpPr>
          <p:cNvPr id="7" name="box: 評估根節點"/>
          <p:cNvSpPr/>
          <p:nvPr/>
        </p:nvSpPr>
        <p:spPr>
          <a:xfrm>
            <a:off x="685800" y="324612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8" name="label: 評估根節點"/>
          <p:cNvSpPr txBox="1"/>
          <p:nvPr/>
        </p:nvSpPr>
        <p:spPr>
          <a:xfrm>
            <a:off x="777240" y="32461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評估根節點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Laya 給先驗 P(s₀,·)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與價值 V(s₀)</a:t>
            </a:r>
            <a:endParaRPr lang="en-US" sz="1500" dirty="0"/>
          </a:p>
        </p:txBody>
      </p:sp>
      <p:sp>
        <p:nvSpPr>
          <p:cNvPr id="9" name="box: 加入探索雜訊"/>
          <p:cNvSpPr/>
          <p:nvPr/>
        </p:nvSpPr>
        <p:spPr>
          <a:xfrm>
            <a:off x="685800" y="448056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D1D5DB"/>
            </a:solidFill>
            <a:prstDash val="dash"/>
          </a:ln>
        </p:spPr>
      </p:sp>
      <p:sp>
        <p:nvSpPr>
          <p:cNvPr id="10" name="label: 加入探索雜訊"/>
          <p:cNvSpPr txBox="1"/>
          <p:nvPr/>
        </p:nvSpPr>
        <p:spPr>
          <a:xfrm>
            <a:off x="777240" y="448056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加入探索雜訊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P ← 0.75·P + 0.25·Dir(0.3)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只在 self-play</a:t>
            </a:r>
            <a:endParaRPr lang="en-US" sz="1500" dirty="0"/>
          </a:p>
        </p:txBody>
      </p:sp>
      <p:sp>
        <p:nvSpPr>
          <p:cNvPr id="11" name="connector"/>
          <p:cNvSpPr/>
          <p:nvPr/>
        </p:nvSpPr>
        <p:spPr>
          <a:xfrm>
            <a:off x="1805940" y="2880360"/>
            <a:ext cx="0" cy="36576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2" name="connector"/>
          <p:cNvSpPr/>
          <p:nvPr/>
        </p:nvSpPr>
        <p:spPr>
          <a:xfrm>
            <a:off x="1805940" y="4114800"/>
            <a:ext cx="0" cy="36576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3" name="loop container"/>
          <p:cNvSpPr/>
          <p:nvPr/>
        </p:nvSpPr>
        <p:spPr>
          <a:xfrm>
            <a:off x="3291840" y="1691640"/>
            <a:ext cx="6080760" cy="4663440"/>
          </a:xfrm>
          <a:prstGeom prst="roundRect">
            <a:avLst>
              <a:gd name="adj" fmla="val 2353"/>
            </a:avLst>
          </a:prstGeom>
          <a:solidFill>
            <a:srgbClr val="E7F2F1"/>
          </a:solidFill>
          <a:ln w="12700">
            <a:solidFill>
              <a:srgbClr val="99C9C4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3429000" y="1764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重複 K = 16 次模擬</a:t>
            </a:r>
            <a:endParaRPr lang="en-US" sz="1200" dirty="0"/>
          </a:p>
        </p:txBody>
      </p:sp>
      <p:sp>
        <p:nvSpPr>
          <p:cNvPr id="15" name="box: ① 選擇"/>
          <p:cNvSpPr/>
          <p:nvPr/>
        </p:nvSpPr>
        <p:spPr>
          <a:xfrm>
            <a:off x="3840480" y="2011680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16" name="label: ① 選擇"/>
          <p:cNvSpPr txBox="1"/>
          <p:nvPr/>
        </p:nvSpPr>
        <p:spPr>
          <a:xfrm>
            <a:off x="3931920" y="20116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① 選擇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從根往下，每層選 Q + U 最大的動作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U = 1.5 · P · √ΣN / (1 + N)</a:t>
            </a:r>
            <a:endParaRPr lang="en-US" sz="1500" dirty="0"/>
          </a:p>
        </p:txBody>
      </p:sp>
      <p:sp>
        <p:nvSpPr>
          <p:cNvPr id="17" name="decision: 走到的節點是？"/>
          <p:cNvSpPr/>
          <p:nvPr/>
        </p:nvSpPr>
        <p:spPr>
          <a:xfrm>
            <a:off x="4480560" y="3200400"/>
            <a:ext cx="2011680" cy="77724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8" name="decision label"/>
          <p:cNvSpPr txBox="1"/>
          <p:nvPr/>
        </p:nvSpPr>
        <p:spPr>
          <a:xfrm>
            <a:off x="4709160" y="32004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走到的節點是？</a:t>
            </a:r>
            <a:endParaRPr lang="en-US" sz="1300" dirty="0"/>
          </a:p>
        </p:txBody>
      </p:sp>
      <p:sp>
        <p:nvSpPr>
          <p:cNvPr id="19" name="box: 用真實價值 z"/>
          <p:cNvSpPr/>
          <p:nvPr/>
        </p:nvSpPr>
        <p:spPr>
          <a:xfrm>
            <a:off x="3520440" y="43434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20" name="label: 用真實價值 z"/>
          <p:cNvSpPr txBox="1"/>
          <p:nvPr/>
        </p:nvSpPr>
        <p:spPr>
          <a:xfrm>
            <a:off x="3611880" y="43434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用真實價值 z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不問 Laya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成功 0.9ⁿ／失敗 −1</a:t>
            </a:r>
            <a:endParaRPr lang="en-US" sz="1400" dirty="0"/>
          </a:p>
        </p:txBody>
      </p:sp>
      <p:sp>
        <p:nvSpPr>
          <p:cNvPr id="21" name="box: ② 展開與評估"/>
          <p:cNvSpPr/>
          <p:nvPr/>
        </p:nvSpPr>
        <p:spPr>
          <a:xfrm>
            <a:off x="5623560" y="434340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22" name="label: ② 展開與評估"/>
          <p:cNvSpPr txBox="1"/>
          <p:nvPr/>
        </p:nvSpPr>
        <p:spPr>
          <a:xfrm>
            <a:off x="5715000" y="43434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② 展開與評估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Laya 給新節點 P 與 V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一批送 8 個葉節點</a:t>
            </a:r>
            <a:endParaRPr lang="en-US" sz="1400" dirty="0"/>
          </a:p>
        </p:txBody>
      </p:sp>
      <p:sp>
        <p:nvSpPr>
          <p:cNvPr id="23" name="box: ③ 回傳"/>
          <p:cNvSpPr/>
          <p:nvPr/>
        </p:nvSpPr>
        <p:spPr>
          <a:xfrm>
            <a:off x="3840480" y="548640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24" name="label: ③ 回傳"/>
          <p:cNvSpPr txBox="1"/>
          <p:nvPr/>
        </p:nvSpPr>
        <p:spPr>
          <a:xfrm>
            <a:off x="3931920" y="5486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③ 回傳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路徑上 N += 1、W += v、Q = W / N</a:t>
            </a:r>
            <a:endParaRPr lang="en-US" sz="1500" dirty="0"/>
          </a:p>
        </p:txBody>
      </p:sp>
      <p:sp>
        <p:nvSpPr>
          <p:cNvPr id="25" name="decision: 滿 16 次？"/>
          <p:cNvSpPr/>
          <p:nvPr/>
        </p:nvSpPr>
        <p:spPr>
          <a:xfrm>
            <a:off x="7863840" y="2057400"/>
            <a:ext cx="1463040" cy="77724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6" name="decision label"/>
          <p:cNvSpPr txBox="1"/>
          <p:nvPr/>
        </p:nvSpPr>
        <p:spPr>
          <a:xfrm>
            <a:off x="8092440" y="20574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滿 16 次？</a:t>
            </a:r>
            <a:endParaRPr lang="en-US" sz="1300" dirty="0"/>
          </a:p>
        </p:txBody>
      </p:sp>
      <p:sp>
        <p:nvSpPr>
          <p:cNvPr id="27" name="connector"/>
          <p:cNvSpPr/>
          <p:nvPr/>
        </p:nvSpPr>
        <p:spPr>
          <a:xfrm>
            <a:off x="5486400" y="2880360"/>
            <a:ext cx="0" cy="32004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8" name="connector"/>
          <p:cNvSpPr/>
          <p:nvPr/>
        </p:nvSpPr>
        <p:spPr>
          <a:xfrm flipH="1">
            <a:off x="4114800" y="3589020"/>
            <a:ext cx="36576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29" name="connector"/>
          <p:cNvSpPr/>
          <p:nvPr/>
        </p:nvSpPr>
        <p:spPr>
          <a:xfrm>
            <a:off x="4114800" y="3589020"/>
            <a:ext cx="0" cy="75438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3474720" y="32918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遊戲已結束</a:t>
            </a:r>
            <a:endParaRPr lang="en-US" sz="1200" dirty="0"/>
          </a:p>
        </p:txBody>
      </p:sp>
      <p:sp>
        <p:nvSpPr>
          <p:cNvPr id="31" name="connector"/>
          <p:cNvSpPr/>
          <p:nvPr/>
        </p:nvSpPr>
        <p:spPr>
          <a:xfrm>
            <a:off x="6492240" y="3589020"/>
            <a:ext cx="36576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32" name="connector"/>
          <p:cNvSpPr/>
          <p:nvPr/>
        </p:nvSpPr>
        <p:spPr>
          <a:xfrm>
            <a:off x="6858000" y="3589020"/>
            <a:ext cx="0" cy="75438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6537960" y="3291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還沒展開的葉節點</a:t>
            </a:r>
            <a:endParaRPr lang="en-US" sz="1200" dirty="0"/>
          </a:p>
        </p:txBody>
      </p:sp>
      <p:sp>
        <p:nvSpPr>
          <p:cNvPr id="34" name="connector"/>
          <p:cNvSpPr/>
          <p:nvPr/>
        </p:nvSpPr>
        <p:spPr>
          <a:xfrm>
            <a:off x="4114800" y="5212080"/>
            <a:ext cx="0" cy="27432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5" name="connector"/>
          <p:cNvSpPr/>
          <p:nvPr/>
        </p:nvSpPr>
        <p:spPr>
          <a:xfrm>
            <a:off x="6858000" y="5212080"/>
            <a:ext cx="0" cy="27432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6" name="connector"/>
          <p:cNvSpPr/>
          <p:nvPr/>
        </p:nvSpPr>
        <p:spPr>
          <a:xfrm>
            <a:off x="7132320" y="5829300"/>
            <a:ext cx="146304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37" name="connector"/>
          <p:cNvSpPr/>
          <p:nvPr/>
        </p:nvSpPr>
        <p:spPr>
          <a:xfrm flipV="1">
            <a:off x="8595360" y="2834640"/>
            <a:ext cx="0" cy="299466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8" name="connector"/>
          <p:cNvSpPr/>
          <p:nvPr/>
        </p:nvSpPr>
        <p:spPr>
          <a:xfrm flipH="1">
            <a:off x="7132320" y="2446020"/>
            <a:ext cx="73152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7269480" y="21488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否</a:t>
            </a:r>
            <a:endParaRPr lang="en-US" sz="1200" dirty="0"/>
          </a:p>
        </p:txBody>
      </p:sp>
      <p:sp>
        <p:nvSpPr>
          <p:cNvPr id="40" name="connector"/>
          <p:cNvSpPr/>
          <p:nvPr/>
        </p:nvSpPr>
        <p:spPr>
          <a:xfrm>
            <a:off x="2926080" y="4914900"/>
            <a:ext cx="1828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41" name="connector"/>
          <p:cNvSpPr/>
          <p:nvPr/>
        </p:nvSpPr>
        <p:spPr>
          <a:xfrm flipV="1">
            <a:off x="3108960" y="2446020"/>
            <a:ext cx="0" cy="246888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42" name="connector"/>
          <p:cNvSpPr/>
          <p:nvPr/>
        </p:nvSpPr>
        <p:spPr>
          <a:xfrm>
            <a:off x="3108960" y="2446020"/>
            <a:ext cx="73152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9646920" y="1691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決定這一步</a:t>
            </a:r>
            <a:endParaRPr lang="en-US" sz="1200" dirty="0"/>
          </a:p>
        </p:txBody>
      </p:sp>
      <p:sp>
        <p:nvSpPr>
          <p:cNvPr id="44" name="connector"/>
          <p:cNvSpPr/>
          <p:nvPr/>
        </p:nvSpPr>
        <p:spPr>
          <a:xfrm>
            <a:off x="9326880" y="2446020"/>
            <a:ext cx="32004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9326880" y="214884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是</a:t>
            </a:r>
            <a:endParaRPr lang="en-US" sz="1200" dirty="0"/>
          </a:p>
        </p:txBody>
      </p:sp>
      <p:sp>
        <p:nvSpPr>
          <p:cNvPr id="46" name="box: 搜尋分佈"/>
          <p:cNvSpPr/>
          <p:nvPr/>
        </p:nvSpPr>
        <p:spPr>
          <a:xfrm>
            <a:off x="9646920" y="201168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3F4F6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47" name="label: 搜尋分佈"/>
          <p:cNvSpPr txBox="1"/>
          <p:nvPr/>
        </p:nvSpPr>
        <p:spPr>
          <a:xfrm>
            <a:off x="9738360" y="20116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搜尋分佈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π(a) = N(a) / ΣN</a:t>
            </a:r>
            <a:endParaRPr lang="en-US" sz="1500" dirty="0"/>
          </a:p>
        </p:txBody>
      </p:sp>
      <p:sp>
        <p:nvSpPr>
          <p:cNvPr id="48" name="box: 選擇動作"/>
          <p:cNvSpPr/>
          <p:nvPr/>
        </p:nvSpPr>
        <p:spPr>
          <a:xfrm>
            <a:off x="9646920" y="324612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3F4F6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49" name="label: 選擇動作"/>
          <p:cNvSpPr txBox="1"/>
          <p:nvPr/>
        </p:nvSpPr>
        <p:spPr>
          <a:xfrm>
            <a:off x="9738360" y="32461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選擇動作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走 N 最多的動作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平手比 Q，再比 P</a:t>
            </a:r>
            <a:endParaRPr lang="en-US" sz="1500" dirty="0"/>
          </a:p>
        </p:txBody>
      </p:sp>
      <p:sp>
        <p:nvSpPr>
          <p:cNvPr id="50" name="box: 記錄訓練目標"/>
          <p:cNvSpPr/>
          <p:nvPr/>
        </p:nvSpPr>
        <p:spPr>
          <a:xfrm>
            <a:off x="9646920" y="448056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D1D5DB"/>
            </a:solidFill>
            <a:prstDash val="dash"/>
          </a:ln>
        </p:spPr>
      </p:sp>
      <p:sp>
        <p:nvSpPr>
          <p:cNvPr id="51" name="label: 記錄訓練目標"/>
          <p:cNvSpPr txBox="1"/>
          <p:nvPr/>
        </p:nvSpPr>
        <p:spPr>
          <a:xfrm>
            <a:off x="9738360" y="44805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記錄訓練目標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π 銳化（τ = 0.25）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只在 self-play</a:t>
            </a:r>
            <a:endParaRPr lang="en-US" sz="1500" dirty="0"/>
          </a:p>
        </p:txBody>
      </p:sp>
      <p:sp>
        <p:nvSpPr>
          <p:cNvPr id="52" name="connector"/>
          <p:cNvSpPr/>
          <p:nvPr/>
        </p:nvSpPr>
        <p:spPr>
          <a:xfrm>
            <a:off x="10584180" y="2880360"/>
            <a:ext cx="0" cy="36576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53" name="connector"/>
          <p:cNvSpPr/>
          <p:nvPr/>
        </p:nvSpPr>
        <p:spPr>
          <a:xfrm>
            <a:off x="10584180" y="4114800"/>
            <a:ext cx="0" cy="36576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54" name="legend"/>
          <p:cNvSpPr txBox="1"/>
          <p:nvPr/>
        </p:nvSpPr>
        <p:spPr>
          <a:xfrm>
            <a:off x="685800" y="56235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P 先驗、N 拜訪次數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W 價值總和、Q = W / 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虛線框：只在 self-play 執行</a:t>
            </a:r>
            <a:endParaRPr lang="en-US" sz="1100" dirty="0"/>
          </a:p>
        </p:txBody>
      </p:sp>
      <p:sp>
        <p:nvSpPr>
          <p:cNvPr id="55" name="note"/>
          <p:cNvSpPr txBox="1"/>
          <p:nvPr/>
        </p:nvSpPr>
        <p:spPr>
          <a:xfrm>
            <a:off x="9646920" y="56235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同一批 8 個葉節點以 virtual loss 分散路徑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ya MCTS Minimal">
  <a:themeElements>
    <a:clrScheme name="Laya MCTS Minimal">
      <a:dk1>
        <a:srgbClr val="1A1A1A"/>
      </a:dk1>
      <a:lt1>
        <a:srgbClr val="FFFFFF"/>
      </a:lt1>
      <a:dk2>
        <a:srgbClr val="6B7280"/>
      </a:dk2>
      <a:lt2>
        <a:srgbClr val="F3F4F6"/>
      </a:lt2>
      <a:accent1>
        <a:srgbClr val="0F766E"/>
      </a:accent1>
      <a:accent2>
        <a:srgbClr val="9CA3AF"/>
      </a:accent2>
      <a:accent3>
        <a:srgbClr val="D1D5DB"/>
      </a:accent3>
      <a:accent4>
        <a:srgbClr val="4B5563"/>
      </a:accent4>
      <a:accent5>
        <a:srgbClr val="99C9C4"/>
      </a:accent5>
      <a:accent6>
        <a:srgbClr val="374151"/>
      </a:accent6>
      <a:hlink>
        <a:srgbClr val="0F766E"/>
      </a:hlink>
      <a:folHlink>
        <a:srgbClr val="6B7280"/>
      </a:folHlink>
    </a:clrScheme>
    <a:fontScheme name="Laya MCTS Minimal">
      <a:majorFont>
        <a:latin typeface="Calibri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PUCT 搜尋流程</dc:title>
  <dc:subject>PptxGenJS Presentation</dc:subject>
  <dc:creator>PptxGenJS</dc:creator>
  <cp:lastModifiedBy>PptxGenJS</cp:lastModifiedBy>
  <cp:revision>1</cp:revision>
  <dcterms:created xsi:type="dcterms:W3CDTF">2026-10-10T09:56:37Z</dcterms:created>
  <dcterms:modified xsi:type="dcterms:W3CDTF">2026-10-10T09:56:37Z</dcterms:modified>
</cp:coreProperties>
</file>