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3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4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概述" id="{7a289628-966f-3744-8ae2-f21bf9b9f3ea}">
          <p14:sldIdLst>
            <p14:sldId id="257"/>
          </p14:sldIdLst>
        </p14:section>
        <p14:section name="方法" id="{d6d1394d-75e1-cf9d-8cd4-29eae1b25981}">
          <p14:sldIdLst>
            <p14:sldId id="258"/>
            <p14:sldId id="259"/>
            <p14:sldId id="260"/>
          </p14:sldIdLst>
        </p14:section>
        <p14:section name="實驗設置" id="{6ef84977-32d6-7fee-0ddb-23f760a81b18}">
          <p14:sldIdLst>
            <p14:sldId id="261"/>
            <p14:sldId id="262"/>
          </p14:sldIdLst>
        </p14:section>
        <p14:section name="實驗結果" id="{6dbffff4-7f8c-3560-6698-701b72ea5aae}">
          <p14:sldIdLst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</p14:sldIdLst>
        </p14:section>
        <p14:section name="結論" id="{c98522cb-5184-852f-a801-92406437bc0b}">
          <p14:sldIdLst>
            <p14:sldId id="271"/>
          </p14:sldIdLst>
        </p14:section>
        <p14:section name="附錄" id="{06463b36-c538-6326-a4c8-cefe664e52b9}">
          <p14:sldIdLst>
            <p14:sldId id="272"/>
            <p14:sldId id="273"/>
            <p14:sldId id="274"/>
            <p14:sldId id="27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0.5 + 0.5·0.9ⁿ（採用）</c:v>
                </c:pt>
              </c:strCache>
            </c:strRef>
          </c:tx>
          <c:spPr>
            <a:solidFill>
              <a:srgbClr val="0F766E"/>
            </a:solidFill>
            <a:ln w="28575" cap="flat">
              <a:solidFill>
                <a:srgbClr val="0F766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F766E"/>
              </a:solidFill>
              <a:ln w="9525" cap="flat">
                <a:solidFill>
                  <a:srgbClr val="0F766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Sheet1!$A$2:$A$32</c:f>
              <c:multiLvlStrCache>
                <c:ptCount val="31"/>
                <c:lvl>
                  <c:pt idx="0">
                    <c:v>0</c:v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>5</c:v>
                  </c:pt>
                  <c:pt idx="6">
                    <c:v/>
                  </c:pt>
                  <c:pt idx="7">
                    <c:v/>
                  </c:pt>
                  <c:pt idx="8">
                    <c:v/>
                  </c:pt>
                  <c:pt idx="9">
                    <c:v/>
                  </c:pt>
                  <c:pt idx="10">
                    <c:v>10</c:v>
                  </c:pt>
                  <c:pt idx="11">
                    <c:v/>
                  </c:pt>
                  <c:pt idx="12">
                    <c:v/>
                  </c:pt>
                  <c:pt idx="13">
                    <c:v/>
                  </c:pt>
                  <c:pt idx="14">
                    <c:v/>
                  </c:pt>
                  <c:pt idx="15">
                    <c:v>15</c:v>
                  </c:pt>
                  <c:pt idx="16">
                    <c:v/>
                  </c:pt>
                  <c:pt idx="17">
                    <c:v/>
                  </c:pt>
                  <c:pt idx="18">
                    <c:v/>
                  </c:pt>
                  <c:pt idx="19">
                    <c:v/>
                  </c:pt>
                  <c:pt idx="20">
                    <c:v>20</c:v>
                  </c:pt>
                  <c:pt idx="21">
                    <c:v/>
                  </c:pt>
                  <c:pt idx="22">
                    <c:v/>
                  </c:pt>
                  <c:pt idx="23">
                    <c:v/>
                  </c:pt>
                  <c:pt idx="24">
                    <c:v/>
                  </c:pt>
                  <c:pt idx="25">
                    <c:v>25</c:v>
                  </c:pt>
                  <c:pt idx="26">
                    <c:v/>
                  </c:pt>
                  <c:pt idx="27">
                    <c:v/>
                  </c:pt>
                  <c:pt idx="28">
                    <c:v/>
                  </c:pt>
                  <c:pt idx="29">
                    <c:v/>
                  </c:pt>
                  <c:pt idx="30">
                    <c:v>30</c:v>
                  </c:pt>
                </c:lvl>
              </c:multiLvlStrCache>
            </c:multiLvlStrRef>
          </c:cat>
          <c:val>
            <c:numRef>
              <c:f>Sheet1!$B$2:$B$32</c:f>
              <c:numCache>
                <c:formatCode>General</c:formatCode>
                <c:ptCount val="31"/>
                <c:pt idx="0">
                  <c:v>1</c:v>
                </c:pt>
                <c:pt idx="1">
                  <c:v>0.95</c:v>
                </c:pt>
                <c:pt idx="2">
                  <c:v>0.905</c:v>
                </c:pt>
                <c:pt idx="3">
                  <c:v>0.8645</c:v>
                </c:pt>
                <c:pt idx="4">
                  <c:v>0.8281</c:v>
                </c:pt>
                <c:pt idx="5">
                  <c:v>0.7952</c:v>
                </c:pt>
                <c:pt idx="6">
                  <c:v>0.7657</c:v>
                </c:pt>
                <c:pt idx="7">
                  <c:v>0.7391</c:v>
                </c:pt>
                <c:pt idx="8">
                  <c:v>0.7152</c:v>
                </c:pt>
                <c:pt idx="9">
                  <c:v>0.6937</c:v>
                </c:pt>
                <c:pt idx="10">
                  <c:v>0.6743</c:v>
                </c:pt>
                <c:pt idx="11">
                  <c:v>0.6569</c:v>
                </c:pt>
                <c:pt idx="12">
                  <c:v>0.6412</c:v>
                </c:pt>
                <c:pt idx="13">
                  <c:v>0.6271</c:v>
                </c:pt>
                <c:pt idx="14">
                  <c:v>0.6144</c:v>
                </c:pt>
                <c:pt idx="15">
                  <c:v>0.6029</c:v>
                </c:pt>
                <c:pt idx="16">
                  <c:v>0.5927</c:v>
                </c:pt>
                <c:pt idx="17">
                  <c:v>0.5834</c:v>
                </c:pt>
                <c:pt idx="18">
                  <c:v>0.575</c:v>
                </c:pt>
                <c:pt idx="19">
                  <c:v>0.5675</c:v>
                </c:pt>
                <c:pt idx="20">
                  <c:v>0.5608</c:v>
                </c:pt>
                <c:pt idx="21">
                  <c:v>0.5547</c:v>
                </c:pt>
                <c:pt idx="22">
                  <c:v>0.5492</c:v>
                </c:pt>
                <c:pt idx="23">
                  <c:v>0.5443</c:v>
                </c:pt>
                <c:pt idx="24">
                  <c:v>0.5399</c:v>
                </c:pt>
                <c:pt idx="25">
                  <c:v>0.5359</c:v>
                </c:pt>
                <c:pt idx="26">
                  <c:v>0.5323</c:v>
                </c:pt>
                <c:pt idx="27">
                  <c:v>0.5291</c:v>
                </c:pt>
                <c:pt idx="28">
                  <c:v>0.5262</c:v>
                </c:pt>
                <c:pt idx="29">
                  <c:v>0.5236</c:v>
                </c:pt>
                <c:pt idx="30">
                  <c:v>0.5212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0.9ⁿ</c:v>
                </c:pt>
              </c:strCache>
            </c:strRef>
          </c:tx>
          <c:spPr>
            <a:solidFill>
              <a:srgbClr val="9CA3AF"/>
            </a:solidFill>
            <a:ln w="28575" cap="flat">
              <a:solidFill>
                <a:srgbClr val="9CA3A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9CA3AF"/>
              </a:solidFill>
              <a:ln w="9525" cap="flat">
                <a:solidFill>
                  <a:srgbClr val="9CA3A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Sheet1!$A$2:$A$32</c:f>
              <c:multiLvlStrCache>
                <c:ptCount val="31"/>
                <c:lvl>
                  <c:pt idx="0">
                    <c:v>0</c:v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>5</c:v>
                  </c:pt>
                  <c:pt idx="6">
                    <c:v/>
                  </c:pt>
                  <c:pt idx="7">
                    <c:v/>
                  </c:pt>
                  <c:pt idx="8">
                    <c:v/>
                  </c:pt>
                  <c:pt idx="9">
                    <c:v/>
                  </c:pt>
                  <c:pt idx="10">
                    <c:v>10</c:v>
                  </c:pt>
                  <c:pt idx="11">
                    <c:v/>
                  </c:pt>
                  <c:pt idx="12">
                    <c:v/>
                  </c:pt>
                  <c:pt idx="13">
                    <c:v/>
                  </c:pt>
                  <c:pt idx="14">
                    <c:v/>
                  </c:pt>
                  <c:pt idx="15">
                    <c:v>15</c:v>
                  </c:pt>
                  <c:pt idx="16">
                    <c:v/>
                  </c:pt>
                  <c:pt idx="17">
                    <c:v/>
                  </c:pt>
                  <c:pt idx="18">
                    <c:v/>
                  </c:pt>
                  <c:pt idx="19">
                    <c:v/>
                  </c:pt>
                  <c:pt idx="20">
                    <c:v>20</c:v>
                  </c:pt>
                  <c:pt idx="21">
                    <c:v/>
                  </c:pt>
                  <c:pt idx="22">
                    <c:v/>
                  </c:pt>
                  <c:pt idx="23">
                    <c:v/>
                  </c:pt>
                  <c:pt idx="24">
                    <c:v/>
                  </c:pt>
                  <c:pt idx="25">
                    <c:v>25</c:v>
                  </c:pt>
                  <c:pt idx="26">
                    <c:v/>
                  </c:pt>
                  <c:pt idx="27">
                    <c:v/>
                  </c:pt>
                  <c:pt idx="28">
                    <c:v/>
                  </c:pt>
                  <c:pt idx="29">
                    <c:v/>
                  </c:pt>
                  <c:pt idx="30">
                    <c:v>30</c:v>
                  </c:pt>
                </c:lvl>
              </c:multiLvlStrCache>
            </c:multiLvlStrRef>
          </c:cat>
          <c:val>
            <c:numRef>
              <c:f>Sheet1!$C$2:$C$32</c:f>
              <c:numCache>
                <c:formatCode>General</c:formatCode>
                <c:ptCount val="31"/>
                <c:pt idx="0">
                  <c:v>1</c:v>
                </c:pt>
                <c:pt idx="1">
                  <c:v>0.9</c:v>
                </c:pt>
                <c:pt idx="2">
                  <c:v>0.81</c:v>
                </c:pt>
                <c:pt idx="3">
                  <c:v>0.729</c:v>
                </c:pt>
                <c:pt idx="4">
                  <c:v>0.6561</c:v>
                </c:pt>
                <c:pt idx="5">
                  <c:v>0.5905</c:v>
                </c:pt>
                <c:pt idx="6">
                  <c:v>0.5314</c:v>
                </c:pt>
                <c:pt idx="7">
                  <c:v>0.4783</c:v>
                </c:pt>
                <c:pt idx="8">
                  <c:v>0.4305</c:v>
                </c:pt>
                <c:pt idx="9">
                  <c:v>0.3874</c:v>
                </c:pt>
                <c:pt idx="10">
                  <c:v>0.3487</c:v>
                </c:pt>
                <c:pt idx="11">
                  <c:v>0.3138</c:v>
                </c:pt>
                <c:pt idx="12">
                  <c:v>0.2824</c:v>
                </c:pt>
                <c:pt idx="13">
                  <c:v>0.2542</c:v>
                </c:pt>
                <c:pt idx="14">
                  <c:v>0.2288</c:v>
                </c:pt>
                <c:pt idx="15">
                  <c:v>0.2059</c:v>
                </c:pt>
                <c:pt idx="16">
                  <c:v>0.1853</c:v>
                </c:pt>
                <c:pt idx="17">
                  <c:v>0.1668</c:v>
                </c:pt>
                <c:pt idx="18">
                  <c:v>0.1501</c:v>
                </c:pt>
                <c:pt idx="19">
                  <c:v>0.1351</c:v>
                </c:pt>
                <c:pt idx="20">
                  <c:v>0.1216</c:v>
                </c:pt>
                <c:pt idx="21">
                  <c:v>0.1094</c:v>
                </c:pt>
                <c:pt idx="22">
                  <c:v>0.0985</c:v>
                </c:pt>
                <c:pt idx="23">
                  <c:v>0.0886</c:v>
                </c:pt>
                <c:pt idx="24">
                  <c:v>0.0798</c:v>
                </c:pt>
                <c:pt idx="25">
                  <c:v>0.0718</c:v>
                </c:pt>
                <c:pt idx="26">
                  <c:v>0.0646</c:v>
                </c:pt>
                <c:pt idx="27">
                  <c:v>0.0581</c:v>
                </c:pt>
                <c:pt idx="28">
                  <c:v>0.0523</c:v>
                </c:pt>
                <c:pt idx="29">
                  <c:v>0.0471</c:v>
                </c:pt>
                <c:pt idx="30">
                  <c:v>0.0424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6B7280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6B7280"/>
                    </a:solidFill>
                    <a:latin typeface="Arial"/>
                  </a:rPr>
                  <a:t>步數 n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1D5DB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0.0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0.25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solidFill>
                <a:srgbClr val="6B7280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6B7280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6B7280"/>
                </a:solidFill>
                <a:latin typeface="+mn-lt"/>
              </a:rPr>
              <a:t>PUCT16 reward（100 局測試集）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原始 Laya</c:v>
                </c:pt>
              </c:strCache>
            </c:strRef>
          </c:tx>
          <c:spPr>
            <a:solidFill>
              <a:srgbClr val="E5E7EB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4B556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L2-goal</c:v>
                  </c:pt>
                  <c:pt idx="1">
                    <c:v>L3-goal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0.128</c:v>
                </c:pt>
                <c:pt idx="1">
                  <c:v>0.052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Warm start</c:v>
                </c:pt>
              </c:strCache>
            </c:strRef>
          </c:tx>
          <c:spPr>
            <a:solidFill>
              <a:srgbClr val="D1D5DB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4B556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L2-goal</c:v>
                  </c:pt>
                  <c:pt idx="1">
                    <c:v>L3-goal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0.6</c:v>
                </c:pt>
                <c:pt idx="1">
                  <c:v>0.396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Teacher-only</c:v>
                </c:pt>
              </c:strCache>
            </c:strRef>
          </c:tx>
          <c:spPr>
            <a:solidFill>
              <a:srgbClr val="9CA3AF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4B556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L2-goal</c:v>
                  </c:pt>
                  <c:pt idx="1">
                    <c:v>L3-goal</c:v>
                  </c:pt>
                </c:lvl>
              </c:multiLvlStrCache>
            </c:multiLvl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0.613</c:v>
                </c:pt>
                <c:pt idx="1">
                  <c:v>0.413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Self-play</c:v>
                </c:pt>
              </c:strCache>
            </c:strRef>
          </c:tx>
          <c:spPr>
            <a:solidFill>
              <a:srgbClr val="0F766E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4B556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L2-goal</c:v>
                  </c:pt>
                  <c:pt idx="1">
                    <c:v>L3-goal</c:v>
                  </c:pt>
                </c:lvl>
              </c:multiLvlStrCache>
            </c:multiLvl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0.736</c:v>
                </c:pt>
                <c:pt idx="1">
                  <c:v>0.64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100" u="none">
                  <a:solidFill>
                    <a:srgbClr val="4B556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1D5DB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8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6B7280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6B7280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6B7280"/>
                </a:solidFill>
                <a:latin typeface="+mn-lt"/>
              </a:rPr>
              <a:t>搜尋增益：PUCT16 − Greedy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Teacher-only</c:v>
                </c:pt>
              </c:strCache>
            </c:strRef>
          </c:tx>
          <c:spPr>
            <a:solidFill>
              <a:srgbClr val="9CA3AF"/>
            </a:solidFill>
            <a:effectLst/>
          </c:spPr>
          <c:invertIfNegative val="0"/>
          <c:dLbls>
            <c:numFmt formatCode="+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4B556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L2-goal</c:v>
                  </c:pt>
                  <c:pt idx="1">
                    <c:v>L3-goal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0.034</c:v>
                </c:pt>
                <c:pt idx="1">
                  <c:v>0.042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Self-play</c:v>
                </c:pt>
              </c:strCache>
            </c:strRef>
          </c:tx>
          <c:spPr>
            <a:solidFill>
              <a:srgbClr val="0F766E"/>
            </a:solidFill>
            <a:effectLst/>
          </c:spPr>
          <c:invertIfNegative val="0"/>
          <c:dLbls>
            <c:numFmt formatCode="+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4B556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L2-goal</c:v>
                  </c:pt>
                  <c:pt idx="1">
                    <c:v>L3-goal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0.146</c:v>
                </c:pt>
                <c:pt idx="1">
                  <c:v>0.212</c:v>
                </c:pt>
              </c:numCache>
            </c:numRef>
          </c:val>
        </c:ser>
        <c:dLbls>
          <c:numFmt formatCode="+0.00" sourceLinked="0"/>
          <c:txPr>
            <a:bodyPr/>
            <a:lstStyle/>
            <a:p>
              <a:pPr>
                <a:defRPr b="0" i="0" strike="noStrike" sz="1100" u="none">
                  <a:solidFill>
                    <a:srgbClr val="4B556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8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1D5DB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6B7280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Warm start 後距最佳（約）</c:v>
                </c:pt>
              </c:strCache>
            </c:strRef>
          </c:tx>
          <c:spPr>
            <a:solidFill>
              <a:srgbClr val="D1D5DB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4B556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L1</c:v>
                  </c:pt>
                  <c:pt idx="1">
                    <c:v>L2</c:v>
                  </c:pt>
                  <c:pt idx="2">
                    <c:v>C1</c:v>
                  </c:pt>
                  <c:pt idx="3">
                    <c:v>L2-goal</c:v>
                  </c:pt>
                  <c:pt idx="4">
                    <c:v>L3-goal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0.005</c:v>
                </c:pt>
                <c:pt idx="1">
                  <c:v>0.02</c:v>
                </c:pt>
                <c:pt idx="2">
                  <c:v>0</c:v>
                </c:pt>
                <c:pt idx="3">
                  <c:v>0.14</c:v>
                </c:pt>
                <c:pt idx="4">
                  <c:v>0.3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Self-play − Teacher-only</c:v>
                </c:pt>
              </c:strCache>
            </c:strRef>
          </c:tx>
          <c:spPr>
            <a:solidFill>
              <a:srgbClr val="0F766E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4B556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L1</c:v>
                  </c:pt>
                  <c:pt idx="1">
                    <c:v>L2</c:v>
                  </c:pt>
                  <c:pt idx="2">
                    <c:v>C1</c:v>
                  </c:pt>
                  <c:pt idx="3">
                    <c:v>L2-goal</c:v>
                  </c:pt>
                  <c:pt idx="4">
                    <c:v>L3-goal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-0.009</c:v>
                </c:pt>
                <c:pt idx="1">
                  <c:v>0.004</c:v>
                </c:pt>
                <c:pt idx="2">
                  <c:v>0</c:v>
                </c:pt>
                <c:pt idx="3">
                  <c:v>0.123</c:v>
                </c:pt>
                <c:pt idx="4">
                  <c:v>0.227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100" u="none">
                  <a:solidFill>
                    <a:srgbClr val="4B556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1D5DB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35"/>
          <c:min val="-0.0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6B7280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2103120"/>
            <a:ext cx="10820095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3063240"/>
            <a:ext cx="1082009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713232"/>
            <a:ext cx="10820095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2103120"/>
            <a:ext cx="108200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tx1"/>
                </a:solidFill>
              </a:rPr>
              <a:t>Laya + MCTS</a:t>
            </a:r>
            <a:endParaRPr lang="en-US" sz="4800" dirty="0"/>
          </a:p>
        </p:txBody>
      </p:sp>
      <p:sp>
        <p:nvSpPr>
          <p:cNvPr id="3" name="subtitle"/>
          <p:cNvSpPr txBox="1"/>
          <p:nvPr/>
        </p:nvSpPr>
        <p:spPr>
          <a:xfrm>
            <a:off x="685800" y="3246120"/>
            <a:ext cx="108200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以 AlphaZero 式自我對弈強化文字決策模型</a:t>
            </a:r>
            <a:endParaRPr lang="en-US" sz="2400" dirty="0"/>
          </a:p>
        </p:txBody>
      </p:sp>
      <p:sp>
        <p:nvSpPr>
          <p:cNvPr id="4" name="meta"/>
          <p:cNvSpPr txBox="1"/>
          <p:nvPr/>
        </p:nvSpPr>
        <p:spPr>
          <a:xfrm>
            <a:off x="685800" y="566928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架構與實驗結果　｜　2026.10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685800" y="411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概述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713232"/>
            <a:ext cx="108200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架構：AlphaZero × Laya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78308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網路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600200" y="178308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Laya（非自回歸決策模型，644 MB）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600200" y="2221992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一次前向計算輸出各選項機率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97180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搜尋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600200" y="297180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PUCT MCTS，16 次模擬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600200" y="3410712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根節點拜訪分佈為決策與 policy 目標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416052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訓練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600200" y="416052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Teacher 示範 warm start + Self-play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600200" y="4599432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搜尋分佈與對局 reward 為訓練目標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5440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狀態以文字表示；同一狀態產生兩個 Laya 問題。</a:t>
            </a:r>
            <a:endParaRPr lang="en-US" sz="1300" dirty="0"/>
          </a:p>
        </p:txBody>
      </p:sp>
      <p:sp>
        <p:nvSpPr>
          <p:cNvPr id="14" name="box: 狀態文字"/>
          <p:cNvSpPr/>
          <p:nvPr/>
        </p:nvSpPr>
        <p:spPr>
          <a:xfrm>
            <a:off x="5623560" y="2514600"/>
            <a:ext cx="178308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5" name="label: 狀態文字"/>
          <p:cNvSpPr txBox="1"/>
          <p:nvPr/>
        </p:nvSpPr>
        <p:spPr>
          <a:xfrm>
            <a:off x="5715000" y="2514600"/>
            <a:ext cx="1600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狀態文字</a:t>
            </a:r>
            <a:endParaRPr lang="en-US" sz="15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tx2"/>
                </a:solidFill>
              </a:rPr>
              <a:t>目標・位置・物品</a:t>
            </a:r>
            <a:endParaRPr lang="en-US" sz="15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tx2"/>
                </a:solidFill>
              </a:rPr>
              <a:t>近期動作・剩餘步數</a:t>
            </a:r>
            <a:endParaRPr lang="en-US" sz="1500" dirty="0"/>
          </a:p>
        </p:txBody>
      </p:sp>
      <p:sp>
        <p:nvSpPr>
          <p:cNvPr id="16" name="policy box"/>
          <p:cNvSpPr/>
          <p:nvPr/>
        </p:nvSpPr>
        <p:spPr>
          <a:xfrm>
            <a:off x="7955280" y="1783080"/>
            <a:ext cx="3547872" cy="1691640"/>
          </a:xfrm>
          <a:prstGeom prst="roundRect">
            <a:avLst>
              <a:gd name="adj" fmla="val 4324"/>
            </a:avLst>
          </a:prstGeom>
          <a:solidFill>
            <a:schemeClr val="bg1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7" name="policy text"/>
          <p:cNvSpPr txBox="1"/>
          <p:nvPr/>
        </p:nvSpPr>
        <p:spPr>
          <a:xfrm>
            <a:off x="8138160" y="1783080"/>
            <a:ext cx="3182112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accent1"/>
                </a:solidFill>
              </a:rPr>
              <a:t>Policy　choice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i="1" dirty="0">
                <a:solidFill>
                  <a:schemeClr val="tx1"/>
                </a:solidFill>
              </a:rPr>
              <a:t>Which command brings you closest to completing the goal?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2"/>
                </a:solidFill>
              </a:rPr>
              <a:t>A. go east　B. open toolbox　C. …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→ 先驗 P(a)</a:t>
            </a:r>
            <a:endParaRPr lang="en-US" sz="1400" dirty="0"/>
          </a:p>
        </p:txBody>
      </p:sp>
      <p:sp>
        <p:nvSpPr>
          <p:cNvPr id="18" name="value box"/>
          <p:cNvSpPr/>
          <p:nvPr/>
        </p:nvSpPr>
        <p:spPr>
          <a:xfrm>
            <a:off x="7955280" y="3657600"/>
            <a:ext cx="3547872" cy="1691640"/>
          </a:xfrm>
          <a:prstGeom prst="roundRect">
            <a:avLst>
              <a:gd name="adj" fmla="val 4324"/>
            </a:avLst>
          </a:prstGeom>
          <a:solidFill>
            <a:schemeClr val="bg1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9" name="value text"/>
          <p:cNvSpPr txBox="1"/>
          <p:nvPr/>
        </p:nvSpPr>
        <p:spPr>
          <a:xfrm>
            <a:off x="8138160" y="3657600"/>
            <a:ext cx="3182112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accent1"/>
                </a:solidFill>
              </a:rPr>
              <a:t>Value　noul（是 / 否）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i="1" dirty="0">
                <a:solidFill>
                  <a:schemeClr val="tx1"/>
                </a:solidFill>
              </a:rPr>
              <a:t>Will the goal be completed within the remaining steps?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→ V = 2·P(是) − 1</a:t>
            </a:r>
            <a:endParaRPr lang="en-US" sz="1400" dirty="0"/>
          </a:p>
        </p:txBody>
      </p:sp>
      <p:sp>
        <p:nvSpPr>
          <p:cNvPr id="20" name="arrow"/>
          <p:cNvSpPr/>
          <p:nvPr/>
        </p:nvSpPr>
        <p:spPr>
          <a:xfrm flipV="1">
            <a:off x="7406640" y="2633472"/>
            <a:ext cx="548640" cy="338328"/>
          </a:xfrm>
          <a:prstGeom prst="line">
            <a:avLst/>
          </a:prstGeom>
          <a:noFill/>
          <a:ln w="15875">
            <a:solidFill>
              <a:srgbClr val="9CA3AF"/>
            </a:solidFill>
            <a:prstDash val="solid"/>
            <a:tailEnd type="triangle"/>
          </a:ln>
        </p:spPr>
      </p:sp>
      <p:sp>
        <p:nvSpPr>
          <p:cNvPr id="21" name="arrow"/>
          <p:cNvSpPr/>
          <p:nvPr/>
        </p:nvSpPr>
        <p:spPr>
          <a:xfrm>
            <a:off x="7406640" y="3246120"/>
            <a:ext cx="548640" cy="1252728"/>
          </a:xfrm>
          <a:prstGeom prst="line">
            <a:avLst/>
          </a:prstGeom>
          <a:noFill/>
          <a:ln w="15875">
            <a:solidFill>
              <a:srgbClr val="9CA3AF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685800" y="411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方法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713232"/>
            <a:ext cx="108200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整體迴圈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9202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初始化</a:t>
            </a:r>
            <a:endParaRPr lang="en-US" sz="1200" dirty="0"/>
          </a:p>
        </p:txBody>
      </p:sp>
      <p:sp>
        <p:nvSpPr>
          <p:cNvPr id="5" name="box: 原始 Laya 評估"/>
          <p:cNvSpPr/>
          <p:nvPr/>
        </p:nvSpPr>
        <p:spPr>
          <a:xfrm>
            <a:off x="685800" y="2286000"/>
            <a:ext cx="233172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6" name="label: 原始 Laya 評估"/>
          <p:cNvSpPr txBox="1"/>
          <p:nvPr/>
        </p:nvSpPr>
        <p:spPr>
          <a:xfrm>
            <a:off x="777240" y="2286000"/>
            <a:ext cx="2148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原始 Laya 評估</a:t>
            </a:r>
            <a:endParaRPr lang="en-US" sz="16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tx2"/>
                </a:solidFill>
              </a:rPr>
              <a:t>未經任務微調</a:t>
            </a:r>
            <a:endParaRPr lang="en-US" sz="1600" dirty="0"/>
          </a:p>
        </p:txBody>
      </p:sp>
      <p:sp>
        <p:nvSpPr>
          <p:cNvPr id="7" name="box: Teacher 示範"/>
          <p:cNvSpPr/>
          <p:nvPr/>
        </p:nvSpPr>
        <p:spPr>
          <a:xfrm>
            <a:off x="3520440" y="2286000"/>
            <a:ext cx="233172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8" name="label: Teacher 示範"/>
          <p:cNvSpPr txBox="1"/>
          <p:nvPr/>
        </p:nvSpPr>
        <p:spPr>
          <a:xfrm>
            <a:off x="3611880" y="2286000"/>
            <a:ext cx="2148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Teacher 示範</a:t>
            </a:r>
            <a:endParaRPr lang="en-US" sz="16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tx2"/>
                </a:solidFill>
              </a:rPr>
              <a:t>最佳解題器產生資料</a:t>
            </a:r>
            <a:endParaRPr lang="en-US" sz="1600" dirty="0"/>
          </a:p>
        </p:txBody>
      </p:sp>
      <p:sp>
        <p:nvSpPr>
          <p:cNvPr id="9" name="arrow"/>
          <p:cNvSpPr/>
          <p:nvPr/>
        </p:nvSpPr>
        <p:spPr>
          <a:xfrm>
            <a:off x="3017520" y="2811780"/>
            <a:ext cx="502920" cy="0"/>
          </a:xfrm>
          <a:prstGeom prst="line">
            <a:avLst/>
          </a:prstGeom>
          <a:noFill/>
          <a:ln w="15875">
            <a:solidFill>
              <a:srgbClr val="9CA3AF"/>
            </a:solidFill>
            <a:prstDash val="solid"/>
            <a:tailEnd type="triangle"/>
          </a:ln>
        </p:spPr>
      </p:sp>
      <p:sp>
        <p:nvSpPr>
          <p:cNvPr id="10" name="box: Warm start"/>
          <p:cNvSpPr/>
          <p:nvPr/>
        </p:nvSpPr>
        <p:spPr>
          <a:xfrm>
            <a:off x="6355080" y="2286000"/>
            <a:ext cx="233172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1" name="label: Warm start"/>
          <p:cNvSpPr txBox="1"/>
          <p:nvPr/>
        </p:nvSpPr>
        <p:spPr>
          <a:xfrm>
            <a:off x="6446520" y="2286000"/>
            <a:ext cx="2148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Warm start</a:t>
            </a:r>
            <a:endParaRPr lang="en-US" sz="16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tx2"/>
                </a:solidFill>
              </a:rPr>
              <a:t>以示範資料訓練 Laya</a:t>
            </a:r>
            <a:endParaRPr lang="en-US" sz="1600" dirty="0"/>
          </a:p>
        </p:txBody>
      </p:sp>
      <p:sp>
        <p:nvSpPr>
          <p:cNvPr id="12" name="arrow"/>
          <p:cNvSpPr/>
          <p:nvPr/>
        </p:nvSpPr>
        <p:spPr>
          <a:xfrm>
            <a:off x="5852160" y="2811780"/>
            <a:ext cx="502920" cy="0"/>
          </a:xfrm>
          <a:prstGeom prst="line">
            <a:avLst/>
          </a:prstGeom>
          <a:noFill/>
          <a:ln w="15875">
            <a:solidFill>
              <a:srgbClr val="9CA3AF"/>
            </a:solidFill>
            <a:prstDash val="solid"/>
            <a:tailEnd type="triangle"/>
          </a:ln>
        </p:spPr>
      </p:sp>
      <p:sp>
        <p:nvSpPr>
          <p:cNvPr id="13" name="box: 初始評分"/>
          <p:cNvSpPr/>
          <p:nvPr/>
        </p:nvSpPr>
        <p:spPr>
          <a:xfrm>
            <a:off x="9189720" y="2286000"/>
            <a:ext cx="233172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4" name="label: 初始評分"/>
          <p:cNvSpPr txBox="1"/>
          <p:nvPr/>
        </p:nvSpPr>
        <p:spPr>
          <a:xfrm>
            <a:off x="9281160" y="2286000"/>
            <a:ext cx="2148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初始評分</a:t>
            </a:r>
            <a:endParaRPr lang="en-US" sz="16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tx2"/>
                </a:solidFill>
              </a:rPr>
              <a:t>設定 gate 參考分數</a:t>
            </a:r>
            <a:endParaRPr lang="en-US" sz="1600" dirty="0"/>
          </a:p>
        </p:txBody>
      </p:sp>
      <p:sp>
        <p:nvSpPr>
          <p:cNvPr id="15" name="arrow"/>
          <p:cNvSpPr/>
          <p:nvPr/>
        </p:nvSpPr>
        <p:spPr>
          <a:xfrm>
            <a:off x="8686800" y="2811780"/>
            <a:ext cx="502920" cy="0"/>
          </a:xfrm>
          <a:prstGeom prst="line">
            <a:avLst/>
          </a:prstGeom>
          <a:noFill/>
          <a:ln w="15875">
            <a:solidFill>
              <a:srgbClr val="9CA3AF"/>
            </a:solidFill>
            <a:prstDash val="solid"/>
            <a:tailEnd type="triangle"/>
          </a:ln>
        </p:spPr>
      </p:sp>
      <p:sp>
        <p:nvSpPr>
          <p:cNvPr id="16" name="Text 14"/>
          <p:cNvSpPr txBox="1"/>
          <p:nvPr/>
        </p:nvSpPr>
        <p:spPr>
          <a:xfrm>
            <a:off x="1737360" y="38404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迭代（8 輪）</a:t>
            </a:r>
            <a:endParaRPr lang="en-US" sz="1200" dirty="0"/>
          </a:p>
        </p:txBody>
      </p:sp>
      <p:sp>
        <p:nvSpPr>
          <p:cNvPr id="17" name="box: Self-play"/>
          <p:cNvSpPr/>
          <p:nvPr/>
        </p:nvSpPr>
        <p:spPr>
          <a:xfrm>
            <a:off x="685800" y="4251960"/>
            <a:ext cx="1828800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5875">
            <a:solidFill>
              <a:srgbClr val="0F766E"/>
            </a:solidFill>
            <a:prstDash val="solid"/>
          </a:ln>
        </p:spPr>
      </p:sp>
      <p:sp>
        <p:nvSpPr>
          <p:cNvPr id="18" name="label: Self-play"/>
          <p:cNvSpPr txBox="1"/>
          <p:nvPr/>
        </p:nvSpPr>
        <p:spPr>
          <a:xfrm>
            <a:off x="777240" y="4251960"/>
            <a:ext cx="1645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Self-play</a:t>
            </a:r>
            <a:endParaRPr lang="en-US" sz="16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tx2"/>
                </a:solidFill>
              </a:rPr>
              <a:t>Laya + MCTS</a:t>
            </a:r>
            <a:endParaRPr lang="en-US" sz="16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tx2"/>
                </a:solidFill>
              </a:rPr>
              <a:t>每輪 64 局</a:t>
            </a:r>
            <a:endParaRPr lang="en-US" sz="1600" dirty="0"/>
          </a:p>
        </p:txBody>
      </p:sp>
      <p:sp>
        <p:nvSpPr>
          <p:cNvPr id="19" name="box: 訓練樣本"/>
          <p:cNvSpPr/>
          <p:nvPr/>
        </p:nvSpPr>
        <p:spPr>
          <a:xfrm>
            <a:off x="2926080" y="4251960"/>
            <a:ext cx="1828800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5875">
            <a:solidFill>
              <a:srgbClr val="0F766E"/>
            </a:solidFill>
            <a:prstDash val="solid"/>
          </a:ln>
        </p:spPr>
      </p:sp>
      <p:sp>
        <p:nvSpPr>
          <p:cNvPr id="20" name="label: 訓練樣本"/>
          <p:cNvSpPr txBox="1"/>
          <p:nvPr/>
        </p:nvSpPr>
        <p:spPr>
          <a:xfrm>
            <a:off x="3017520" y="4251960"/>
            <a:ext cx="1645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訓練樣本</a:t>
            </a:r>
            <a:endParaRPr lang="en-US" sz="16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tx2"/>
                </a:solidFill>
              </a:rPr>
              <a:t>policy：搜尋分佈</a:t>
            </a:r>
            <a:endParaRPr lang="en-US" sz="16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tx2"/>
                </a:solidFill>
              </a:rPr>
              <a:t>value：對局 reward</a:t>
            </a:r>
            <a:endParaRPr lang="en-US" sz="1600" dirty="0"/>
          </a:p>
        </p:txBody>
      </p:sp>
      <p:sp>
        <p:nvSpPr>
          <p:cNvPr id="21" name="arrow"/>
          <p:cNvSpPr/>
          <p:nvPr/>
        </p:nvSpPr>
        <p:spPr>
          <a:xfrm>
            <a:off x="2514600" y="4846320"/>
            <a:ext cx="411480" cy="0"/>
          </a:xfrm>
          <a:prstGeom prst="line">
            <a:avLst/>
          </a:prstGeom>
          <a:noFill/>
          <a:ln w="15875">
            <a:solidFill>
              <a:srgbClr val="0F766E"/>
            </a:solidFill>
            <a:prstDash val="solid"/>
            <a:tailEnd type="triangle"/>
          </a:ln>
        </p:spPr>
      </p:sp>
      <p:sp>
        <p:nvSpPr>
          <p:cNvPr id="22" name="box: 訓練"/>
          <p:cNvSpPr/>
          <p:nvPr/>
        </p:nvSpPr>
        <p:spPr>
          <a:xfrm>
            <a:off x="5166360" y="4251960"/>
            <a:ext cx="1828800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5875">
            <a:solidFill>
              <a:srgbClr val="0F766E"/>
            </a:solidFill>
            <a:prstDash val="solid"/>
          </a:ln>
        </p:spPr>
      </p:sp>
      <p:sp>
        <p:nvSpPr>
          <p:cNvPr id="23" name="label: 訓練"/>
          <p:cNvSpPr txBox="1"/>
          <p:nvPr/>
        </p:nvSpPr>
        <p:spPr>
          <a:xfrm>
            <a:off x="5257800" y="4251960"/>
            <a:ext cx="1645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訓練</a:t>
            </a:r>
            <a:endParaRPr lang="en-US" sz="16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tx2"/>
                </a:solidFill>
              </a:rPr>
              <a:t>replay buffer</a:t>
            </a:r>
            <a:endParaRPr lang="en-US" sz="16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tx2"/>
                </a:solidFill>
              </a:rPr>
              <a:t>1 epoch・溫度校準</a:t>
            </a:r>
            <a:endParaRPr lang="en-US" sz="1600" dirty="0"/>
          </a:p>
        </p:txBody>
      </p:sp>
      <p:sp>
        <p:nvSpPr>
          <p:cNvPr id="24" name="arrow"/>
          <p:cNvSpPr/>
          <p:nvPr/>
        </p:nvSpPr>
        <p:spPr>
          <a:xfrm>
            <a:off x="4754880" y="4846320"/>
            <a:ext cx="411480" cy="0"/>
          </a:xfrm>
          <a:prstGeom prst="line">
            <a:avLst/>
          </a:prstGeom>
          <a:noFill/>
          <a:ln w="15875">
            <a:solidFill>
              <a:srgbClr val="0F766E"/>
            </a:solidFill>
            <a:prstDash val="solid"/>
            <a:tailEnd type="triangle"/>
          </a:ln>
        </p:spPr>
      </p:sp>
      <p:sp>
        <p:nvSpPr>
          <p:cNvPr id="25" name="box: Gate"/>
          <p:cNvSpPr/>
          <p:nvPr/>
        </p:nvSpPr>
        <p:spPr>
          <a:xfrm>
            <a:off x="7406640" y="4251960"/>
            <a:ext cx="1828800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5875">
            <a:solidFill>
              <a:srgbClr val="0F766E"/>
            </a:solidFill>
            <a:prstDash val="solid"/>
          </a:ln>
        </p:spPr>
      </p:sp>
      <p:sp>
        <p:nvSpPr>
          <p:cNvPr id="26" name="label: Gate"/>
          <p:cNvSpPr txBox="1"/>
          <p:nvPr/>
        </p:nvSpPr>
        <p:spPr>
          <a:xfrm>
            <a:off x="7498080" y="4251960"/>
            <a:ext cx="1645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Gate</a:t>
            </a:r>
            <a:endParaRPr lang="en-US" sz="16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tx2"/>
                </a:solidFill>
              </a:rPr>
              <a:t>驗證集評分</a:t>
            </a:r>
            <a:endParaRPr lang="en-US" sz="16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tx2"/>
                </a:solidFill>
              </a:rPr>
              <a:t>退步則還原</a:t>
            </a:r>
            <a:endParaRPr lang="en-US" sz="1600" dirty="0"/>
          </a:p>
        </p:txBody>
      </p:sp>
      <p:sp>
        <p:nvSpPr>
          <p:cNvPr id="27" name="arrow"/>
          <p:cNvSpPr/>
          <p:nvPr/>
        </p:nvSpPr>
        <p:spPr>
          <a:xfrm>
            <a:off x="6995160" y="4846320"/>
            <a:ext cx="411480" cy="0"/>
          </a:xfrm>
          <a:prstGeom prst="line">
            <a:avLst/>
          </a:prstGeom>
          <a:noFill/>
          <a:ln w="15875">
            <a:solidFill>
              <a:srgbClr val="0F766E"/>
            </a:solidFill>
            <a:prstDash val="solid"/>
            <a:tailEnd type="triangle"/>
          </a:ln>
        </p:spPr>
      </p:sp>
      <p:sp>
        <p:nvSpPr>
          <p:cNvPr id="28" name="box: 測試評估"/>
          <p:cNvSpPr/>
          <p:nvPr/>
        </p:nvSpPr>
        <p:spPr>
          <a:xfrm>
            <a:off x="9646920" y="4251960"/>
            <a:ext cx="1828800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5875">
            <a:solidFill>
              <a:srgbClr val="0F766E"/>
            </a:solidFill>
            <a:prstDash val="solid"/>
          </a:ln>
        </p:spPr>
      </p:sp>
      <p:sp>
        <p:nvSpPr>
          <p:cNvPr id="29" name="label: 測試評估"/>
          <p:cNvSpPr txBox="1"/>
          <p:nvPr/>
        </p:nvSpPr>
        <p:spPr>
          <a:xfrm>
            <a:off x="9738360" y="4251960"/>
            <a:ext cx="1645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測試評估</a:t>
            </a:r>
            <a:endParaRPr lang="en-US" sz="16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tx2"/>
                </a:solidFill>
              </a:rPr>
              <a:t>保留權重</a:t>
            </a:r>
            <a:endParaRPr lang="en-US" sz="16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tx2"/>
                </a:solidFill>
              </a:rPr>
              <a:t>100 局測試集</a:t>
            </a:r>
            <a:endParaRPr lang="en-US" sz="1600" dirty="0"/>
          </a:p>
        </p:txBody>
      </p:sp>
      <p:sp>
        <p:nvSpPr>
          <p:cNvPr id="30" name="arrow"/>
          <p:cNvSpPr/>
          <p:nvPr/>
        </p:nvSpPr>
        <p:spPr>
          <a:xfrm>
            <a:off x="9235440" y="4846320"/>
            <a:ext cx="411480" cy="0"/>
          </a:xfrm>
          <a:prstGeom prst="line">
            <a:avLst/>
          </a:prstGeom>
          <a:noFill/>
          <a:ln w="15875">
            <a:solidFill>
              <a:srgbClr val="0F766E"/>
            </a:solidFill>
            <a:prstDash val="solid"/>
            <a:tailEnd type="triangle"/>
          </a:ln>
        </p:spPr>
      </p:sp>
      <p:sp>
        <p:nvSpPr>
          <p:cNvPr id="31" name="arrow"/>
          <p:cNvSpPr/>
          <p:nvPr/>
        </p:nvSpPr>
        <p:spPr>
          <a:xfrm>
            <a:off x="10561320" y="5440680"/>
            <a:ext cx="0" cy="411480"/>
          </a:xfrm>
          <a:prstGeom prst="line">
            <a:avLst/>
          </a:prstGeom>
          <a:noFill/>
          <a:ln w="15875">
            <a:solidFill>
              <a:srgbClr val="0F766E"/>
            </a:solidFill>
            <a:prstDash val="solid"/>
          </a:ln>
        </p:spPr>
      </p:sp>
      <p:sp>
        <p:nvSpPr>
          <p:cNvPr id="32" name="arrow"/>
          <p:cNvSpPr/>
          <p:nvPr/>
        </p:nvSpPr>
        <p:spPr>
          <a:xfrm flipH="1">
            <a:off x="1600200" y="5852160"/>
            <a:ext cx="8961120" cy="0"/>
          </a:xfrm>
          <a:prstGeom prst="line">
            <a:avLst/>
          </a:prstGeom>
          <a:noFill/>
          <a:ln w="15875">
            <a:solidFill>
              <a:srgbClr val="0F766E"/>
            </a:solidFill>
            <a:prstDash val="solid"/>
          </a:ln>
        </p:spPr>
      </p:sp>
      <p:sp>
        <p:nvSpPr>
          <p:cNvPr id="33" name="arrow"/>
          <p:cNvSpPr/>
          <p:nvPr/>
        </p:nvSpPr>
        <p:spPr>
          <a:xfrm flipV="1">
            <a:off x="1600200" y="5440680"/>
            <a:ext cx="0" cy="411480"/>
          </a:xfrm>
          <a:prstGeom prst="line">
            <a:avLst/>
          </a:prstGeom>
          <a:noFill/>
          <a:ln w="15875">
            <a:solidFill>
              <a:srgbClr val="0F766E"/>
            </a:solidFill>
            <a:prstDash val="solid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5532120" y="590702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下一輪</a:t>
            </a:r>
            <a:endParaRPr lang="en-US" sz="1100" dirty="0"/>
          </a:p>
        </p:txBody>
      </p:sp>
      <p:sp>
        <p:nvSpPr>
          <p:cNvPr id="35" name="arrow"/>
          <p:cNvSpPr/>
          <p:nvPr/>
        </p:nvSpPr>
        <p:spPr>
          <a:xfrm>
            <a:off x="10355580" y="3337560"/>
            <a:ext cx="0" cy="365760"/>
          </a:xfrm>
          <a:prstGeom prst="line">
            <a:avLst/>
          </a:prstGeom>
          <a:noFill/>
          <a:ln w="15875">
            <a:solidFill>
              <a:srgbClr val="9CA3AF"/>
            </a:solidFill>
            <a:prstDash val="solid"/>
          </a:ln>
        </p:spPr>
      </p:sp>
      <p:sp>
        <p:nvSpPr>
          <p:cNvPr id="36" name="arrow"/>
          <p:cNvSpPr/>
          <p:nvPr/>
        </p:nvSpPr>
        <p:spPr>
          <a:xfrm flipH="1">
            <a:off x="1600200" y="3703320"/>
            <a:ext cx="8755380" cy="0"/>
          </a:xfrm>
          <a:prstGeom prst="line">
            <a:avLst/>
          </a:prstGeom>
          <a:noFill/>
          <a:ln w="15875">
            <a:solidFill>
              <a:srgbClr val="9CA3AF"/>
            </a:solidFill>
            <a:prstDash val="solid"/>
          </a:ln>
        </p:spPr>
      </p:sp>
      <p:sp>
        <p:nvSpPr>
          <p:cNvPr id="37" name="arrow"/>
          <p:cNvSpPr/>
          <p:nvPr/>
        </p:nvSpPr>
        <p:spPr>
          <a:xfrm>
            <a:off x="1600200" y="3703320"/>
            <a:ext cx="0" cy="548640"/>
          </a:xfrm>
          <a:prstGeom prst="line">
            <a:avLst/>
          </a:prstGeom>
          <a:noFill/>
          <a:ln w="15875">
            <a:solidFill>
              <a:srgbClr val="9CA3AF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685800" y="411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方法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713232"/>
            <a:ext cx="108200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Reward 設計</a:t>
            </a:r>
            <a:endParaRPr lang="en-US" sz="3200" dirty="0"/>
          </a:p>
        </p:txBody>
      </p:sp>
      <p:sp>
        <p:nvSpPr>
          <p:cNvPr id="4" name="reward formula"/>
          <p:cNvSpPr txBox="1"/>
          <p:nvPr/>
        </p:nvSpPr>
        <p:spPr>
          <a:xfrm>
            <a:off x="685800" y="169164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 = 0.5 + 0.5 · 0.9</a:t>
            </a:r>
            <a:r>
              <a:rPr lang="en-US" sz="3000" baseline="300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3774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成功時；n 為步數。失敗時 R = 0。value 目標映射至 [−1, 1]。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017520"/>
            <a:ext cx="48463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下限 0.5：</a:t>
            </a:r>
            <a:r>
              <a:rPr lang="en-US" sz="1500" dirty="0">
                <a:solidFill>
                  <a:schemeClr val="tx1"/>
                </a:solidFill>
              </a:rPr>
              <a:t>成功恆明顯優於失敗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隨步數衰減：</a:t>
            </a:r>
            <a:r>
              <a:rPr lang="en-US" sz="1500" dirty="0">
                <a:solidFill>
                  <a:schemeClr val="tx1"/>
                </a:solidFill>
              </a:rPr>
              <a:t>鼓勵以較少步數完成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僅用 0.9ⁿ 的問題：</a:t>
            </a:r>
            <a:r>
              <a:rPr lang="en-US" sz="1500" dirty="0">
                <a:solidFill>
                  <a:schemeClr val="tx1"/>
                </a:solidFill>
              </a:rPr>
              <a:t>步數多時趨近 0，與失敗難以區分，價值網路傾向拖延</a:t>
            </a:r>
            <a:endParaRPr lang="en-US" sz="1500" dirty="0"/>
          </a:p>
        </p:txBody>
      </p:sp>
      <p:graphicFrame>
        <p:nvGraphicFramePr>
          <p:cNvPr id="5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4983480"/>
          <a:ext cx="48463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914400"/>
                <a:gridCol w="914400"/>
                <a:gridCol w="914400"/>
                <a:gridCol w="91440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步數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3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5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8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11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R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0.864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0.795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0.715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0.657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8" name="reward chart" descr=""/>
          <p:cNvGraphicFramePr/>
          <p:nvPr/>
        </p:nvGraphicFramePr>
        <p:xfrm>
          <a:off x="6035040" y="1645920"/>
          <a:ext cx="548640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685800" y="411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方法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713232"/>
            <a:ext cx="108200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Self-play 與 Gate</a:t>
            </a:r>
            <a:endParaRPr lang="en-US" sz="3200" dirty="0"/>
          </a:p>
        </p:txBody>
      </p:sp>
      <p:graphicFrame>
        <p:nvGraphicFramePr>
          <p:cNvPr id="6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691640"/>
          <a:ext cx="10820095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389120"/>
                <a:gridCol w="4419295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項目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設計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理由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Policy 目標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根節點拜訪分佈，銳化（溫度 0.25）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16 次模擬的分佈過平，避免稀釋既有偏好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Value 目標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該局最終 reward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包含失敗與繞路的真實結果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失敗局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僅訓練 value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不模仿失敗的走法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Replay buffer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全部 teacher + 全部 self-play 資料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每輪以整個 buffer 訓練 1 epoch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Gate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驗證集評分；低於歷史最佳逾 0.02 即還原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僅保留不退步的權重（借自 AlphaGo Zero）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資料切分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train 150 / val 40 / test 100 局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驗證集決定保留，測試集僅評估保留權重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footnote"/>
          <p:cNvSpPr txBox="1"/>
          <p:nvPr/>
        </p:nvSpPr>
        <p:spPr>
          <a:xfrm>
            <a:off x="685800" y="5806440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每輪 self-play 64 局；Dirichlet 雜訊（α = 0.3，25%）僅加於 self-play 的根節點先驗。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685800" y="411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實驗設置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713232"/>
            <a:ext cx="108200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任務：TextWorld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554480"/>
            <a:ext cx="108200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微軟的文字冒險遊戲產生器；可控制房間數、物件數與任務步數，並自動判定成敗。</a:t>
            </a:r>
            <a:endParaRPr lang="en-US" sz="1600" dirty="0"/>
          </a:p>
        </p:txBody>
      </p:sp>
      <p:graphicFrame>
        <p:nvGraphicFramePr>
          <p:cNvPr id="7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194560"/>
          <a:ext cx="10820095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188720"/>
                <a:gridCol w="1188720"/>
                <a:gridCol w="1645920"/>
                <a:gridCol w="3291840"/>
                <a:gridCol w="1676095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關卡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房間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物件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任務步數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目標描述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步數上限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L1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逐步指示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L2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逐步指示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L2-goal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僅最終目標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20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L3-goal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僅最終目標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C1（料理）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 種食材；讀食譜後依序操作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85800" y="5120640"/>
            <a:ext cx="108200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逐步指示：</a:t>
            </a:r>
            <a:r>
              <a:rPr lang="en-US" sz="1500" dirty="0">
                <a:solidFill>
                  <a:schemeClr val="tx1"/>
                </a:solidFill>
              </a:rPr>
              <a:t>目標列出每一步，照做即為最佳解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僅最終目標：</a:t>
            </a:r>
            <a:r>
              <a:rPr lang="en-US" sz="1500" dirty="0">
                <a:solidFill>
                  <a:schemeClr val="tx1"/>
                </a:solidFill>
              </a:rPr>
              <a:t>例如「確認箱子已解鎖」，需自行探索鑰匙位置與路徑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685800" y="411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實驗設置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713232"/>
            <a:ext cx="108200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比較方法與參數</a:t>
            </a:r>
            <a:endParaRPr lang="en-US" sz="3200" dirty="0"/>
          </a:p>
        </p:txBody>
      </p:sp>
      <p:graphicFrame>
        <p:nvGraphicFramePr>
          <p:cNvPr id="8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645920"/>
          <a:ext cx="1082009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442655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方法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說明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隨機 rollout 搜尋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不使用 Laya；PUCT16，均勻先驗，價值以隨機走至終局估計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原始 Laya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未經任務微調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Warm start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以 teacher 示範資料（150 局）訓練 2 epoch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</a:rPr>
                        <a:t>Self-play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</a:rPr>
                        <a:t>Warm start 後 8 輪 × 64 局 self-play（本研究方法）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Teacher-only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迴圈相同，但 self-play 資料不加入 replay；隔離 self-play 的貢獻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85800" y="457200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PUCT16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4983480"/>
            <a:ext cx="3337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Laya + 16 次模擬；「網路 + 搜尋」的能力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4334256" y="457200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Greedy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4334256" y="4983480"/>
            <a:ext cx="3337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不搜尋，取最高機率動作；網路本身的能力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982712" y="457200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指標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7982712" y="4983480"/>
            <a:ext cx="3337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100 局測試集：分數、成功率、平均步數、成功局平均步數；3 seeds；成對差距 = 同 seed 相減後平均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685800" y="411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實驗結果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713232"/>
            <a:ext cx="108200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結果總覽：探索型關卡與料理關卡</a:t>
            </a:r>
            <a:endParaRPr lang="en-US" sz="3200" dirty="0"/>
          </a:p>
        </p:txBody>
      </p:sp>
      <p:graphicFrame>
        <p:nvGraphicFramePr>
          <p:cNvPr id="9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691640"/>
          <a:ext cx="10820095" cy="914400"/>
        </p:xfrm>
        <a:graphic>
          <a:graphicData uri="http://schemas.openxmlformats.org/drawingml/2006/table">
            <a:tbl>
              <a:tblPr/>
              <a:tblGrid>
                <a:gridCol w="2862072"/>
                <a:gridCol w="1325880"/>
                <a:gridCol w="1325880"/>
                <a:gridCol w="1325880"/>
                <a:gridCol w="1325880"/>
                <a:gridCol w="1325880"/>
                <a:gridCol w="132588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方法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L2-goal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PUCT16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L2-goal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Greedy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L3-goal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PUCT16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L3-goal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Greedy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C1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PUCT16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C1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Greedy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隨機 rollout 搜尋（無 Laya）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0.233 (0.34)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0.094 (0.13)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0.278 (0.32)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原始 Laya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0.128 (0.19)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0.061 (0.09)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0.052 (0.07)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0.031 (0.04)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0.138 (0.15)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0.003 (0.00)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Warm start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0.600 (0.77)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0.501 (0.65)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0.396 (0.54)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0.303 (0.42)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0.804 (1.00)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0.804 (1.00)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Teacher-only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0.613 (0.79)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0.579 (0.74)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0.413 (0.59)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0.371 (0.53)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0.804 (1.00)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0.804 (1.00)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</a:rPr>
                        <a:t>Self-play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</a:rPr>
                        <a:t>0.736 (0.94)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</a:rPr>
                        <a:t>0.590 (0.76)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</a:rPr>
                        <a:t>0.640 (0.89)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</a:rPr>
                        <a:t>0.428 (0.61)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</a:rPr>
                        <a:t>0.804 (1.00)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</a:rPr>
                        <a:t>0.804 (1.00)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85800" y="461772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原始 Laya 無法直接使用：</a:t>
            </a:r>
            <a:r>
              <a:rPr lang="en-US" sz="1500" dirty="0">
                <a:solidFill>
                  <a:schemeClr val="tx1"/>
                </a:solidFill>
              </a:rPr>
              <a:t>greedy 成功率皆 &lt; 10%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Teacher 微調為最大躍升：</a:t>
            </a:r>
            <a:r>
              <a:rPr lang="en-US" sz="1500" dirty="0">
                <a:solidFill>
                  <a:schemeClr val="tx1"/>
                </a:solidFill>
              </a:rPr>
              <a:t>greedy 於 L2-goal 0.06 → 0.50、L3-goal 0.03 → 0.30</a:t>
            </a:r>
            <a:endParaRPr lang="en-US" sz="1500" dirty="0"/>
          </a:p>
        </p:txBody>
      </p:sp>
      <p:sp>
        <p:nvSpPr>
          <p:cNvPr id="6" name="footnote"/>
          <p:cNvSpPr txBox="1"/>
          <p:nvPr/>
        </p:nvSpPr>
        <p:spPr>
          <a:xfrm>
            <a:off x="685800" y="5760720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平均 reward（括號為成功率），100 局測試集。Warm start 為該關卡全部實驗平均；Teacher-only 與 Self-play 為 3 個 seed 平均。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685800" y="411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實驗結果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713232"/>
            <a:ext cx="108200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Self-play 帶來明確增益，任務越難增益越大</a:t>
            </a:r>
            <a:endParaRPr lang="en-US" sz="3200" dirty="0"/>
          </a:p>
        </p:txBody>
      </p:sp>
      <p:graphicFrame>
        <p:nvGraphicFramePr>
          <p:cNvPr id="4" name="selfplay gain chart" descr=""/>
          <p:cNvGraphicFramePr/>
          <p:nvPr/>
        </p:nvGraphicFramePr>
        <p:xfrm>
          <a:off x="685800" y="1600200"/>
          <a:ext cx="6766560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8001000" y="178308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Self-play − Teacher-only（成對差距）</a:t>
            </a:r>
            <a:endParaRPr lang="en-US" sz="1300" dirty="0"/>
          </a:p>
        </p:txBody>
      </p:sp>
      <p:sp>
        <p:nvSpPr>
          <p:cNvPr id="6" name="stat: L2-goal（± 0.05）"/>
          <p:cNvSpPr txBox="1"/>
          <p:nvPr/>
        </p:nvSpPr>
        <p:spPr>
          <a:xfrm>
            <a:off x="8001000" y="2103120"/>
            <a:ext cx="3520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</a:rPr>
              <a:t>+0.12</a:t>
            </a:r>
            <a:endParaRPr lang="en-US" sz="4800" dirty="0"/>
          </a:p>
        </p:txBody>
      </p:sp>
      <p:sp>
        <p:nvSpPr>
          <p:cNvPr id="7" name="stat label: L2-goal（± 0.05）"/>
          <p:cNvSpPr txBox="1"/>
          <p:nvPr/>
        </p:nvSpPr>
        <p:spPr>
          <a:xfrm>
            <a:off x="8001000" y="2999232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L2-goal（± 0.05）</a:t>
            </a:r>
            <a:endParaRPr lang="en-US" sz="1300" dirty="0"/>
          </a:p>
        </p:txBody>
      </p:sp>
      <p:sp>
        <p:nvSpPr>
          <p:cNvPr id="8" name="stat: L3-goal（± 0.06）"/>
          <p:cNvSpPr txBox="1"/>
          <p:nvPr/>
        </p:nvSpPr>
        <p:spPr>
          <a:xfrm>
            <a:off x="8001000" y="3611880"/>
            <a:ext cx="3520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</a:rPr>
              <a:t>+0.22</a:t>
            </a:r>
            <a:endParaRPr lang="en-US" sz="4800" dirty="0"/>
          </a:p>
        </p:txBody>
      </p:sp>
      <p:sp>
        <p:nvSpPr>
          <p:cNvPr id="9" name="stat label: L3-goal（± 0.06）"/>
          <p:cNvSpPr txBox="1"/>
          <p:nvPr/>
        </p:nvSpPr>
        <p:spPr>
          <a:xfrm>
            <a:off x="8001000" y="4507992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L3-goal（± 0.06）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8001000" y="5166360"/>
            <a:ext cx="3520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3 個 seed 皆為正；僅重複訓練 teacher 資料幾乎無增益。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685800" y="411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實驗結果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713232"/>
            <a:ext cx="108200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L3-goal（PUCT16）：增益幾乎全部來自成功率</a:t>
            </a:r>
            <a:endParaRPr lang="en-US" sz="3200" dirty="0"/>
          </a:p>
        </p:txBody>
      </p:sp>
      <p:graphicFrame>
        <p:nvGraphicFramePr>
          <p:cNvPr id="11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645920"/>
          <a:ext cx="722376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280160"/>
                <a:gridCol w="1097280"/>
                <a:gridCol w="1097280"/>
                <a:gridCol w="1280160"/>
              </a:tblGrid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方法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分數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成功率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平均步數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成功局</a:t>
                      </a: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平均步數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隨機 rollout 搜尋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0.094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0.13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27.4*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10.2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原始 Laya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0.052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0.07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28.7*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11.7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Warm start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0.396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0.54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18.4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8.6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Teacher-only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0.413 ± 0.060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0.59 ± 0.08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18.3 ± 2.1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10.2 ± 1.0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Self-play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0.640 ± 0.004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0.89 ± 0.01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11.0 ± 0.3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8.6 ± 0.5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Self-play：僅學有效率成功局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0.643 ± 0.026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0.89 ± 0.04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11.0 ± 0.9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8.7 ± 0.6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Self-play：48 次模擬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0.624 ± 0.036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0.88 ± 0.04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11.6 ± 1.3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9.1 ± 0.5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8229600" y="1691640"/>
            <a:ext cx="3273552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成功率：</a:t>
            </a:r>
            <a:r>
              <a:rPr lang="en-US" sz="1400" dirty="0">
                <a:solidFill>
                  <a:schemeClr val="tx1"/>
                </a:solidFill>
              </a:rPr>
              <a:t>warm start 0.54 → self-play 0.89；teacher-only 僅 0.59</a:t>
            </a:r>
            <a:endParaRPr lang="en-US" sz="14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成功局步數：</a:t>
            </a:r>
            <a:r>
              <a:rPr lang="en-US" sz="1400" dirty="0">
                <a:solidFill>
                  <a:schemeClr val="tx1"/>
                </a:solidFill>
              </a:rPr>
              <a:t>warm start 已為 8.6（任務最短 8 步），self-play 後不變</a:t>
            </a:r>
            <a:endParaRPr lang="en-US" sz="14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Teacher-only 10.2 步：</a:t>
            </a:r>
            <a:r>
              <a:rPr lang="en-US" sz="1400" dirty="0">
                <a:solidFill>
                  <a:schemeClr val="tx1"/>
                </a:solidFill>
              </a:rPr>
              <a:t>自身退步（8.7 → 10.2），非 self-play 縮短解法</a:t>
            </a:r>
            <a:endParaRPr lang="en-US" sz="14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平均步數：</a:t>
            </a:r>
            <a:r>
              <a:rPr lang="en-US" sz="1400" dirty="0">
                <a:solidFill>
                  <a:schemeClr val="tx1"/>
                </a:solidFill>
              </a:rPr>
              <a:t>下降主因為失敗局減少</a:t>
            </a:r>
            <a:endParaRPr lang="en-US" sz="14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訓練前：</a:t>
            </a:r>
            <a:r>
              <a:rPr lang="en-US" sz="1400" dirty="0">
                <a:solidFill>
                  <a:schemeClr val="tx1"/>
                </a:solidFill>
              </a:rPr>
              <a:t>解出的局需 10–12 步，效率差</a:t>
            </a:r>
            <a:endParaRPr lang="en-US" sz="1400" dirty="0"/>
          </a:p>
        </p:txBody>
      </p:sp>
      <p:sp>
        <p:nvSpPr>
          <p:cNvPr id="6" name="footnote"/>
          <p:cNvSpPr txBox="1"/>
          <p:nvPr/>
        </p:nvSpPr>
        <p:spPr>
          <a:xfrm>
            <a:off x="685800" y="5577840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100 局測試集；± 為 3 個 seed 標準差。平均步數含失敗局（以上限 30 步計）；成功局平均步數僅計解出的局。* 依成功率與成功局步數換算。</a:t>
            </a:r>
            <a:endParaRPr lang="en-US" sz="1100" dirty="0"/>
          </a:p>
        </p:txBody>
      </p:sp>
      <p:sp>
        <p:nvSpPr>
          <p:cNvPr id="7" name="footnote"/>
          <p:cNvSpPr txBox="1"/>
          <p:nvPr/>
        </p:nvSpPr>
        <p:spPr>
          <a:xfrm>
            <a:off x="685800" y="5852160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Warm start 為 4 組設定（12 個實驗）平均；隨機 rollout 與原始 Laya 不經訓練，與 seed 無關。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685800" y="411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實驗結果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713232"/>
            <a:ext cx="108200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L3-goal（Greedy）：policy 提升相近，差別在搜尋</a:t>
            </a:r>
            <a:endParaRPr lang="en-US" sz="3200" dirty="0"/>
          </a:p>
        </p:txBody>
      </p:sp>
      <p:graphicFrame>
        <p:nvGraphicFramePr>
          <p:cNvPr id="12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645920"/>
          <a:ext cx="722376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280160"/>
                <a:gridCol w="1097280"/>
                <a:gridCol w="1097280"/>
                <a:gridCol w="1280160"/>
              </a:tblGrid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方法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分數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成功率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平均步數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成功局</a:t>
                      </a: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平均步數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原始 Laya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0.031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0.04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29.1*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7.0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Warm start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0.303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0.42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Teacher-only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0.371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0.53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Self-play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0.428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0.61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—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—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Self-play：僅學有效率成功局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0.445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0.63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—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—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Self-play：48 次模擬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0.465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0.66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—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—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8229600" y="1691640"/>
            <a:ext cx="3273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搜尋多解出的局（PUCT16 − Greedy 成功率）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0" y="2240280"/>
            <a:ext cx="3273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warm start → 最終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8229600" y="2651760"/>
            <a:ext cx="3273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Teacher-only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229600" y="2971800"/>
            <a:ext cx="3273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+0.14 → +0.06</a:t>
            </a:r>
            <a:endParaRPr lang="en-US" sz="2800" dirty="0"/>
          </a:p>
        </p:txBody>
      </p:sp>
      <p:sp>
        <p:nvSpPr>
          <p:cNvPr id="9" name="Text 6"/>
          <p:cNvSpPr txBox="1"/>
          <p:nvPr/>
        </p:nvSpPr>
        <p:spPr>
          <a:xfrm>
            <a:off x="8229600" y="3657600"/>
            <a:ext cx="3273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Self-play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8229600" y="3977640"/>
            <a:ext cx="3273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+0.14 → +0.28</a:t>
            </a:r>
            <a:endParaRPr lang="en-US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8229600" y="46634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Greedy 成功率提升相近（+0.16 / +0.17）；self-play 的優勢來自搜尋。</a:t>
            </a:r>
            <a:endParaRPr lang="en-US" sz="1300" dirty="0"/>
          </a:p>
        </p:txBody>
      </p:sp>
      <p:sp>
        <p:nvSpPr>
          <p:cNvPr id="12" name="footnote"/>
          <p:cNvSpPr txBox="1"/>
          <p:nvPr/>
        </p:nvSpPr>
        <p:spPr>
          <a:xfrm>
            <a:off x="685800" y="5577840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100 局測試集，3 個 seed 平均（warm start 為 12 個實驗平均）。— 為報告未記錄；* 依成功率與成功局步數換算（失敗局以 30 步計）。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685800" y="411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實驗結果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713232"/>
            <a:ext cx="108200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增益來源：價值網路使搜尋生效</a:t>
            </a:r>
            <a:endParaRPr lang="en-US" sz="3200" dirty="0"/>
          </a:p>
        </p:txBody>
      </p:sp>
      <p:graphicFrame>
        <p:nvGraphicFramePr>
          <p:cNvPr id="4" name="search gain chart" descr=""/>
          <p:cNvGraphicFramePr/>
          <p:nvPr/>
        </p:nvGraphicFramePr>
        <p:xfrm>
          <a:off x="685800" y="1600200"/>
          <a:ext cx="5669280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903720" y="1783080"/>
            <a:ext cx="4599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Teacher-only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6903720" y="2194560"/>
            <a:ext cx="45994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Teacher 每局皆成功，所有 value 標籤皆為「會成功」；價值網路無法區分局面優劣，搜尋幾乎無增益。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903720" y="3429000"/>
            <a:ext cx="4599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Self-play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6903720" y="3840480"/>
            <a:ext cx="45994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引入失敗與繞路的真實結果，且位於搜尋實際到達的狀態；價值估計具鑑別力，搜尋增益擴大 4–5 倍。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6903720" y="5120640"/>
            <a:ext cx="4599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成功率觀點（L3-goal）：搜尋多解出的局，teacher-only 由 14% 縮至 6%，self-play 由 14% 擴至 28%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685800" y="411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實驗結果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713232"/>
            <a:ext cx="108200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逐步指示與料理關卡：模仿即近最優</a:t>
            </a:r>
            <a:endParaRPr lang="en-US" sz="3200" dirty="0"/>
          </a:p>
        </p:txBody>
      </p:sp>
      <p:graphicFrame>
        <p:nvGraphicFramePr>
          <p:cNvPr id="14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645920"/>
          <a:ext cx="7589520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1783080"/>
                <a:gridCol w="1143000"/>
                <a:gridCol w="1783080"/>
                <a:gridCol w="109728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方法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L1 PUCT16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L1 Greedy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L2 PUCT16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L2 Greedy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隨機 rollout 搜尋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0.564 (0.69)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0.156 (0.21)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原始 Laya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0.447 (0.59)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0.253 (0.31)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0.117 (0.18)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0.042 (0.06)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Warm start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0.859 (0.99)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0.837 (0.97)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0.772 (0.98)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0.733 (0.93)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Teacher-only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0.857 ± 0.006 (0.99)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0.837 (0.97)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0.776 ± 0.002 (0.98)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0.753 (0.95)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Self-play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0.848 ± 0.014 (0.98)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0.829 (0.96)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0.780 ± 0.004 (0.99)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0.766 (0.97)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成對差距（SP − TO）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−0.009 ± 0.008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+0.004 ± 0.006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理論最佳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0.864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0.795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8503920" y="1691640"/>
            <a:ext cx="2999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L1、L2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8503920" y="2103120"/>
            <a:ext cx="29992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Warm start 後距最佳僅 0.005 / 0.02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Self-play 與 teacher-only 差異落於雜訊內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3611880"/>
            <a:ext cx="2999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C1（料理）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503920" y="4023360"/>
            <a:ext cx="29992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所有方法 100% 成功、平均 4.73 步、reward 0.804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完全複製 teacher 路線，greedy 與搜尋相同</a:t>
            </a:r>
            <a:endParaRPr lang="en-US" sz="1400" dirty="0"/>
          </a:p>
        </p:txBody>
      </p:sp>
      <p:sp>
        <p:nvSpPr>
          <p:cNvPr id="9" name="footnote"/>
          <p:cNvSpPr txBox="1"/>
          <p:nvPr/>
        </p:nvSpPr>
        <p:spPr>
          <a:xfrm>
            <a:off x="685800" y="5349240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100 局測試集，括號為成功率；SP − TO = Self-play − Teacher-only；理論最佳 = 全部以最短步數解出。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685800" y="411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實驗結果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713232"/>
            <a:ext cx="108200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跨關卡：增益取決於模仿後的剩餘空間</a:t>
            </a:r>
            <a:endParaRPr lang="en-US" sz="3200" dirty="0"/>
          </a:p>
        </p:txBody>
      </p:sp>
      <p:graphicFrame>
        <p:nvGraphicFramePr>
          <p:cNvPr id="4" name="cross level chart" descr=""/>
          <p:cNvGraphicFramePr/>
          <p:nvPr/>
        </p:nvGraphicFramePr>
        <p:xfrm>
          <a:off x="685800" y="1600200"/>
          <a:ext cx="6949440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8092440" y="1783080"/>
            <a:ext cx="3410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逐步指示 / 料理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8092440" y="2194560"/>
            <a:ext cx="34107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L1、L2、C1：模仿即近最優，self-play 無增益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092440" y="3291840"/>
            <a:ext cx="3410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僅最終目標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092440" y="3703320"/>
            <a:ext cx="34107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L2-goal、L3-goal：需自行探索，模仿留下空間，self-play 增益顯著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685800" y="411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實驗結果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713232"/>
            <a:ext cx="108200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推論速度：Greedy 與 PUCT</a:t>
            </a:r>
            <a:endParaRPr lang="en-US" sz="3200" dirty="0"/>
          </a:p>
        </p:txBody>
      </p:sp>
      <p:graphicFrame>
        <p:nvGraphicFramePr>
          <p:cNvPr id="16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645920"/>
          <a:ext cx="10820095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51560"/>
                <a:gridCol w="1051560"/>
                <a:gridCol w="1234440"/>
                <a:gridCol w="1600200"/>
                <a:gridCol w="1463040"/>
                <a:gridCol w="1371600"/>
                <a:gridCol w="1584655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方法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成功率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分數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每局秒數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每步 ms（平均）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p50 / p95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相對 greedy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模型 / 環境時間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Greedy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0.70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0.547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0.20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13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13 / 16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1.0×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66% / 34%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</a:rPr>
                        <a:t>PUCT16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</a:rPr>
                        <a:t>0.97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</a:rPr>
                        <a:t>0.745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</a:rPr>
                        <a:t>1.35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</a:rPr>
                        <a:t>206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</a:rPr>
                        <a:t>158 / 505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</a:rPr>
                        <a:t>15.6×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</a:rPr>
                        <a:t>21% / 78%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PUCT64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1.00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0.790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1.30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250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103 / 1086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19.0×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24% / 75%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85800" y="370332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每步約 0.2 秒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4160520"/>
            <a:ext cx="3337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搜尋為 greedy 的 15–19 倍；成功率 0.70 → 0.97–1.00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4334256" y="370332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模擬 ×4，每步僅 +20%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4334256" y="4160520"/>
            <a:ext cx="3337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評估快取於局內重用，終局不需呼叫模型；PUCT64 步數較少，每局時間反而略短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7982712" y="370332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瓶頸在環境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7982712" y="4160520"/>
            <a:ext cx="3337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75–78% 時間耗於 TextWorld 重播，Laya 僅 21–24%</a:t>
            </a:r>
            <a:endParaRPr lang="en-US" sz="1400" dirty="0"/>
          </a:p>
        </p:txBody>
      </p:sp>
      <p:sp>
        <p:nvSpPr>
          <p:cNvPr id="11" name="footnote"/>
          <p:cNvSpPr txBox="1"/>
          <p:nvPr/>
        </p:nvSpPr>
        <p:spPr>
          <a:xfrm>
            <a:off x="685800" y="5623560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L2-goal，self-play（seed 0）最終權重；GPU、單一 agent 逐局執行；每方法 30 局測試遊戲，暖機 2 局不計時；每局清空評估快取；PUCT 批次 4、無 Dirichlet 雜訊。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685800" y="411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結論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713232"/>
            <a:ext cx="108200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結論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78308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1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783080"/>
            <a:ext cx="6583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AlphaZero 式迴圈可於文字任務運作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2221992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探索型關卡上 self-play 帶來穩定增益：L2-goal +0.12、L3-goal +0.22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7889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2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1325880" y="2788920"/>
            <a:ext cx="6583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增益主要來自價值網路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3227832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Self-play 提供真實結果，L3-goal 搜尋增益由 +0.04 提升至 +0.21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379476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3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1325880" y="3794760"/>
            <a:ext cx="6583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模仿已達最優時無改進空間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4233672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L1、L2、C1 中 self-play 與 teacher-only 無差異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48006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4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4800600"/>
            <a:ext cx="6583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搜尋代價可接受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5239512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每步約 0.2 秒；模擬次數 ×4 每步僅 +20%，瓶頸在環境而非 Laya</a:t>
            </a:r>
            <a:endParaRPr lang="en-US" sz="1400" dirty="0"/>
          </a:p>
        </p:txBody>
      </p:sp>
      <p:sp>
        <p:nvSpPr>
          <p:cNvPr id="16" name="limits bg"/>
          <p:cNvSpPr/>
          <p:nvPr/>
        </p:nvSpPr>
        <p:spPr>
          <a:xfrm>
            <a:off x="8138160" y="1691640"/>
            <a:ext cx="3364992" cy="4069080"/>
          </a:xfrm>
          <a:prstGeom prst="roundRect">
            <a:avLst>
              <a:gd name="adj" fmla="val 2174"/>
            </a:avLst>
          </a:prstGeom>
          <a:solidFill>
            <a:schemeClr val="bg2"/>
          </a:solidFill>
          <a:ln w="6350">
            <a:solidFill>
              <a:srgbClr val="F3F4F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412480" y="1874520"/>
            <a:ext cx="2816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限制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8412480" y="2286000"/>
            <a:ext cx="281635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Self-play 於 1–2 輪後趨於飽和（L3-goal 約 70% 增益發生於第 1 輪）</a:t>
            </a:r>
            <a:endParaRPr lang="en-US" sz="13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驗證集僅 40 局，gate 決策受雜訊影響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412480" y="3794760"/>
            <a:ext cx="2816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後續方向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8412480" y="4206240"/>
            <a:ext cx="281635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於 L3-goal 驗證評估時增加模擬次數的效益（L2-goal PUCT64 已近理論最佳）</a:t>
            </a:r>
            <a:endParaRPr lang="en-US" sz="13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更難任務：C2、ALFWorld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number"/>
          <p:cNvSpPr txBox="1"/>
          <p:nvPr/>
        </p:nvSpPr>
        <p:spPr>
          <a:xfrm>
            <a:off x="685800" y="228600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A</a:t>
            </a:r>
            <a:endParaRPr lang="en-US" sz="4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3063240"/>
            <a:ext cx="108200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tx1"/>
                </a:solidFill>
              </a:rPr>
              <a:t>附錄</a:t>
            </a:r>
            <a:endParaRPr lang="en-US" sz="4000" dirty="0"/>
          </a:p>
        </p:txBody>
      </p:sp>
      <p:sp>
        <p:nvSpPr>
          <p:cNvPr id="4" name="section subtitle"/>
          <p:cNvSpPr txBox="1"/>
          <p:nvPr/>
        </p:nvSpPr>
        <p:spPr>
          <a:xfrm>
            <a:off x="685800" y="3931920"/>
            <a:ext cx="10820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管線驗證：Countdown 與一元一次方程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685800" y="411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附錄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713232"/>
            <a:ext cx="108200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管線驗證：任務與設定</a:t>
            </a:r>
            <a:endParaRPr lang="en-US" sz="3200" dirty="0"/>
          </a:p>
        </p:txBody>
      </p:sp>
      <p:sp>
        <p:nvSpPr>
          <p:cNvPr id="4" name="card Countdown"/>
          <p:cNvSpPr/>
          <p:nvPr/>
        </p:nvSpPr>
        <p:spPr>
          <a:xfrm>
            <a:off x="685800" y="1691640"/>
            <a:ext cx="512064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6350">
            <a:solidFill>
              <a:srgbClr val="F3F4F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60120" y="187452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Countdown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2377440"/>
            <a:ext cx="4572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以四則運算組合給定數字，湊出目標數</a:t>
            </a:r>
            <a:endParaRPr lang="en-US" sz="14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Reward：是否成功</a:t>
            </a:r>
            <a:endParaRPr lang="en-US" sz="14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Teacher：窮舉搜尋</a:t>
            </a:r>
            <a:endParaRPr lang="en-US" sz="1400" dirty="0"/>
          </a:p>
        </p:txBody>
      </p:sp>
      <p:sp>
        <p:nvSpPr>
          <p:cNvPr id="7" name="card 一元一次方程"/>
          <p:cNvSpPr/>
          <p:nvPr/>
        </p:nvSpPr>
        <p:spPr>
          <a:xfrm>
            <a:off x="6385255" y="1691640"/>
            <a:ext cx="512064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6350">
            <a:solidFill>
              <a:srgbClr val="F3F4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659575" y="187452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一元一次方程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659575" y="2377440"/>
            <a:ext cx="4572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逐步選擇代數改寫，化簡至 x = c；以 SymPy 驗證</a:t>
            </a:r>
            <a:endParaRPr lang="en-US" sz="14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Reward：0.5 + 0.5 · 0.9ⁿ</a:t>
            </a:r>
            <a:endParaRPr lang="en-US" sz="14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Teacher：廣度優先搜尋（最短步數）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4114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設定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783080" y="4114800"/>
            <a:ext cx="96926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CPU 縮小規模：評估 30 題、self-play 每輪 16 局；差距 &lt; 0.05 視為雜訊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模型：Laya（laya-multilingual）與隨機初始化的微型模型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里程碑：PUCT16 reward 隨迭代上升；優於 greedy；優於同預算的均勻先驗搜尋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685800" y="411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附錄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713232"/>
            <a:ext cx="108200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管線驗證：結果</a:t>
            </a:r>
            <a:endParaRPr lang="en-US" sz="3200" dirty="0"/>
          </a:p>
        </p:txBody>
      </p:sp>
      <p:graphicFrame>
        <p:nvGraphicFramePr>
          <p:cNvPr id="20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645920"/>
          <a:ext cx="10820095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097280"/>
                <a:gridCol w="2560320"/>
                <a:gridCol w="2606040"/>
                <a:gridCol w="1554480"/>
                <a:gridCol w="1447495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任務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模型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起點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PUCT16（初始 → 最終）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Greedy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均勻先驗搜尋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Countdown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Laya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teacher 150 題 + 1 輪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0.17 → 0.83 → 0.93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0.70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0.30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代數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Laya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teacher 150 題 + 4 輪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0.35 → 0.776 → 0.777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0.776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0.727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代數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Laya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無 teacher，4 輪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0.35 → 0.68 → 0.71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0.02 → 0.71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0.727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代數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微型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無 teacher，8 輪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0.07 → 0.54 → 0.74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0.00 → 0.61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0.730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代數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微型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teacher 150 題 + 6 輪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0.73 → 0.75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0.60 → 0.72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0.730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代數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微型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teacher 1000 題 + 6 輪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0.769 → 0.772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0.776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0.730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Countdown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微型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teacher 1000 題 + 6 輪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0.22 → 0.37 → 0.35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0.15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0.30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footnote"/>
          <p:cNvSpPr txBox="1"/>
          <p:nvPr/>
        </p:nvSpPr>
        <p:spPr>
          <a:xfrm>
            <a:off x="685800" y="5440680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Countdown 的 reward 為成功率；代數理論最優約 0.777（平均 5.6 步）。中間值為 warm start 或第 1 輪後的結果。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685800" y="411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附錄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713232"/>
            <a:ext cx="108200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管線驗證：觀察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7830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預訓練的效益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28600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accent1"/>
                </a:solidFill>
              </a:rPr>
              <a:t>0.83 vs 0.37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24612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Countdown：Laya 以 150 題 teacher 資料達 0.83；微型模型以 1000 題僅 0.37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343400" y="17830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無 teacher 亦可學習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4343400" y="228600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accent1"/>
                </a:solidFill>
              </a:rPr>
              <a:t>0.00 → 0.61</a:t>
            </a:r>
            <a:endParaRPr lang="en-US" sz="3800" dirty="0"/>
          </a:p>
        </p:txBody>
      </p:sp>
      <p:sp>
        <p:nvSpPr>
          <p:cNvPr id="9" name="Text 7"/>
          <p:cNvSpPr txBox="1"/>
          <p:nvPr/>
        </p:nvSpPr>
        <p:spPr>
          <a:xfrm>
            <a:off x="4343400" y="324612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代數微型模型 greedy；PUCT16 0.07 → 0.74，超越均勻先驗搜尋（0.730）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001000" y="17830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搜尋效益取決於價值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8001000" y="228600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accent1"/>
                </a:solidFill>
              </a:rPr>
              <a:t>0.29 → 0.93</a:t>
            </a:r>
            <a:endParaRPr lang="en-US" sz="3800" dirty="0"/>
          </a:p>
        </p:txBody>
      </p:sp>
      <p:sp>
        <p:nvSpPr>
          <p:cNvPr id="12" name="Text 10"/>
          <p:cNvSpPr txBox="1"/>
          <p:nvPr/>
        </p:nvSpPr>
        <p:spPr>
          <a:xfrm>
            <a:off x="8001000" y="324612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Countdown 改用 oracle 價值，同一搜尋成功率由 0.29 升至 0.80–0.93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4846320"/>
            <a:ext cx="108200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Reward 下限 0.5 的設計源於此階段：僅用 0.9ⁿ 時，價值網路傾向拖延至步數用盡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價值網路較弱時，PUCT 比 Gumbel AlphaZero 穩定，後續實驗皆採 PUCT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aya MCTS Minimal">
  <a:themeElements>
    <a:clrScheme name="Laya MCTS Minimal">
      <a:dk1>
        <a:srgbClr val="1A1A1A"/>
      </a:dk1>
      <a:lt1>
        <a:srgbClr val="FFFFFF"/>
      </a:lt1>
      <a:dk2>
        <a:srgbClr val="6B7280"/>
      </a:dk2>
      <a:lt2>
        <a:srgbClr val="F3F4F6"/>
      </a:lt2>
      <a:accent1>
        <a:srgbClr val="0F766E"/>
      </a:accent1>
      <a:accent2>
        <a:srgbClr val="9CA3AF"/>
      </a:accent2>
      <a:accent3>
        <a:srgbClr val="D1D5DB"/>
      </a:accent3>
      <a:accent4>
        <a:srgbClr val="4B5563"/>
      </a:accent4>
      <a:accent5>
        <a:srgbClr val="99C9C4"/>
      </a:accent5>
      <a:accent6>
        <a:srgbClr val="374151"/>
      </a:accent6>
      <a:hlink>
        <a:srgbClr val="0F766E"/>
      </a:hlink>
      <a:folHlink>
        <a:srgbClr val="6B7280"/>
      </a:folHlink>
    </a:clrScheme>
    <a:fontScheme name="Laya MCTS Minimal">
      <a:majorFont>
        <a:latin typeface="Calibri"/>
        <a:ea typeface="Microsoft JhengHei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Microsoft JhengHei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Laya + MCTS：架構與實驗結果（精簡版）</dc:title>
  <dc:subject>PptxGenJS Presentation</dc:subject>
  <dc:creator>PptxGenJS</dc:creator>
  <cp:lastModifiedBy>PptxGenJS</cp:lastModifiedBy>
  <cp:revision>1</cp:revision>
  <dcterms:created xsi:type="dcterms:W3CDTF">2026-10-08T10:22:20Z</dcterms:created>
  <dcterms:modified xsi:type="dcterms:W3CDTF">2026-10-08T10:22:20Z</dcterms:modified>
</cp:coreProperties>
</file>